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ague Spartan" charset="1" panose="00000800000000000000"/>
      <p:regular r:id="rId14"/>
    </p:embeddedFont>
    <p:embeddedFont>
      <p:font typeface="Montserrat" charset="1" panose="00000500000000000000"/>
      <p:regular r:id="rId15"/>
    </p:embeddedFon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Montserrat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622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57468" y="2328596"/>
            <a:ext cx="16230600" cy="214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Plataforma Web Educativa y Diagnóstico Asistido por IA para la Prevención del Cáncer de Mama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2609" y="5055873"/>
            <a:ext cx="1623060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Integración de Redes Neuronales Convolucionales (CNN) y Modelos Conversacionales de Lenguaje (Poe/LLM)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989980"/>
            <a:ext cx="16230600" cy="98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Integrantes :</a:t>
            </a:r>
          </a:p>
          <a:p>
            <a:pPr algn="ctr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Diego Mesias</a:t>
            </a:r>
          </a:p>
          <a:p>
            <a:pPr algn="ctr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Francisco Quiroz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223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66849" y="1557480"/>
            <a:ext cx="14554301" cy="151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6"/>
              </a:lnSpc>
              <a:spcBef>
                <a:spcPct val="0"/>
              </a:spcBef>
            </a:pPr>
            <a:r>
              <a:rPr lang="en-US" sz="5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PLANTEAMIENTO DEL PROBLEMA E IMPACTO SOCIAL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2728" y="5302964"/>
            <a:ext cx="7234067" cy="372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293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Det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ección tardía por desinformación: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Una de las principales causas de mortalidad en el cáncer de mama es el diagnóstico tardío.</a:t>
            </a:r>
          </a:p>
          <a:p>
            <a:pPr algn="l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561341" indent="-280670" lvl="1">
              <a:lnSpc>
                <a:spcPts val="293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Información médica poco accesible: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contenido existente suele ser técnico, extenso y denso, lo que dificulta que la población general lo comprenda y adopte hábitos preventivos.</a:t>
            </a:r>
          </a:p>
          <a:p>
            <a:pPr algn="l">
              <a:lnSpc>
                <a:spcPts val="29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29595" y="3842719"/>
            <a:ext cx="368945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 Real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3517" y="3842719"/>
            <a:ext cx="433816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Vacio Tecnólogico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1601" y="5302964"/>
            <a:ext cx="7411049" cy="372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293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Pl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ataformas estáticas e ineficaces: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Hoy en dia no exsite una plataforma educativa ni que deje subir la radiografia para detectar anomalias.</a:t>
            </a:r>
          </a:p>
          <a:p>
            <a:pPr algn="l">
              <a:lnSpc>
                <a:spcPts val="2938"/>
              </a:lnSpc>
            </a:pPr>
          </a:p>
          <a:p>
            <a:pPr algn="l" marL="561341" indent="-280670" lvl="1">
              <a:lnSpc>
                <a:spcPts val="2938"/>
              </a:lnSpc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Falta de métricas para el sector salud: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existen herramientas informáticas que permitan a los profesionales detectar cuáles son los mitos </a:t>
            </a:r>
          </a:p>
          <a:p>
            <a:pPr algn="l">
              <a:lnSpc>
                <a:spcPts val="2938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7175" y="253621"/>
            <a:ext cx="3218269" cy="775079"/>
          </a:xfrm>
          <a:custGeom>
            <a:avLst/>
            <a:gdLst/>
            <a:ahLst/>
            <a:cxnLst/>
            <a:rect r="r" b="b" t="t" l="l"/>
            <a:pathLst>
              <a:path h="775079" w="3218269">
                <a:moveTo>
                  <a:pt x="0" y="0"/>
                </a:moveTo>
                <a:lnTo>
                  <a:pt x="3218269" y="0"/>
                </a:lnTo>
                <a:lnTo>
                  <a:pt x="321826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1" r="0" b="-871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18846" y="1047750"/>
            <a:ext cx="11544292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9"/>
              </a:lnSpc>
            </a:pPr>
            <a:r>
              <a:rPr lang="en-US" sz="6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Pilares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1154" y="3465324"/>
            <a:ext cx="6651064" cy="335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Modulo Educativo </a:t>
            </a:r>
          </a:p>
          <a:p>
            <a:pPr algn="l">
              <a:lnSpc>
                <a:spcPts val="3236"/>
              </a:lnSpc>
            </a:pPr>
          </a:p>
          <a:p>
            <a:pPr algn="ctr">
              <a:lnSpc>
                <a:spcPts val="3236"/>
              </a:lnSpc>
            </a:pP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struc</a:t>
            </a: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tura modular interactiva con quizzes, trivias de Mitos vs. Realidades y Verdadero/Falso con retroalimentación médica inmediata para fijar autocuidado.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074422" y="3465324"/>
            <a:ext cx="6651064" cy="294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Scanner IA </a:t>
            </a:r>
          </a:p>
          <a:p>
            <a:pPr algn="ctr">
              <a:lnSpc>
                <a:spcPts val="3236"/>
              </a:lnSpc>
            </a:pPr>
          </a:p>
          <a:p>
            <a:pPr algn="ctr">
              <a:lnSpc>
                <a:spcPts val="3236"/>
              </a:lnSpc>
            </a:pP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</a:t>
            </a: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alizador de imágenes de radiografia mamaria basado en visión por computadora para la detección asistida de anomalías e interpretación de riesgo.</a:t>
            </a:r>
          </a:p>
          <a:p>
            <a:pPr algn="l">
              <a:lnSpc>
                <a:spcPts val="32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818468" y="6711378"/>
            <a:ext cx="6651064" cy="253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</a:pPr>
            <a:r>
              <a:rPr lang="en-US" sz="33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Asistente POE</a:t>
            </a:r>
          </a:p>
          <a:p>
            <a:pPr algn="ctr">
              <a:lnSpc>
                <a:spcPts val="3236"/>
              </a:lnSpc>
            </a:pPr>
          </a:p>
          <a:p>
            <a:pPr algn="ctr">
              <a:lnSpc>
                <a:spcPts val="3236"/>
              </a:lnSpc>
            </a:pPr>
            <a:r>
              <a:rPr lang="en-US" sz="28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Chatbot inteligente con lenguaje natural empático que traduce los resultados técnicos a un lenguaje claro, seguro y orientador para el paciente.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18846" y="1047750"/>
            <a:ext cx="11544292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9"/>
              </a:lnSpc>
            </a:pPr>
            <a:r>
              <a:rPr lang="en-US" sz="6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Solucion propuesta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8982" y="2447680"/>
            <a:ext cx="8425018" cy="7071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1. Módulo Educa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tivo e Interac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tivo (Público General)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Gestión de Sesiones y Autenticación: El usuario inicia sesión para registrar su progreso a través de las distintas etapas de aprendizaje.</a:t>
            </a:r>
          </a:p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Estructura Modular por Sesiones:</a:t>
            </a: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Sesión 1: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Mitos vs. Realidades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Dinámica interactiva para desmentir falsas creencias sobre la salud mamaria.</a:t>
            </a: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Sesión 2: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Preguntas de Opción Múltiple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Módulo de retroalimentación inmediata con explicación médica detallada tras cada respuesta.</a:t>
            </a: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Sesión 3: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Verdadero o Falso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Evaluación rápida para fijar conceptos clave de prevención y autocuidado.</a:t>
            </a:r>
          </a:p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579206" y="3330129"/>
            <a:ext cx="6942797" cy="409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8"/>
              </a:lnSpc>
            </a:pPr>
            <a:r>
              <a:rPr lang="en-US" sz="26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. Panel Adm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inistra</a:t>
            </a: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tivo (Doctor / Especialista)</a:t>
            </a:r>
          </a:p>
          <a:p>
            <a:pPr algn="just">
              <a:lnSpc>
                <a:spcPts val="2938"/>
              </a:lnSpc>
            </a:pPr>
          </a:p>
          <a:p>
            <a:pPr algn="just">
              <a:lnSpc>
                <a:spcPts val="2938"/>
              </a:lnSpc>
            </a:pPr>
            <a:r>
              <a:rPr lang="en-US" b="true" sz="26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Gestión Total de Preguntas (CRUD):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Permite al administrador o profesional de la salud crear, edita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lasi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 y eliminar preguntas de las 3 s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esi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 en tiempo real.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Control de Explicaciones Médicas</a:t>
            </a:r>
          </a:p>
          <a:p>
            <a:pPr algn="just">
              <a:lnSpc>
                <a:spcPts val="2938"/>
              </a:lnSpc>
            </a:pP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Espacio exclusivo para redactar la justificac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ión </a:t>
            </a:r>
            <a:r>
              <a:rPr lang="en-US" sz="2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clínica personalizada que el usuario verá al responder cada pregunta.</a:t>
            </a:r>
          </a:p>
          <a:p>
            <a:pPr algn="just">
              <a:lnSpc>
                <a:spcPts val="293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4076" y="1236145"/>
            <a:ext cx="16300671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0"/>
              </a:lnSpc>
            </a:pPr>
            <a:r>
              <a:rPr lang="en-US" sz="5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Scanner IA - redes convolucionales y</a:t>
            </a:r>
          </a:p>
          <a:p>
            <a:pPr algn="ctr" marL="0" indent="0" lvl="0">
              <a:lnSpc>
                <a:spcPts val="5800"/>
              </a:lnSpc>
            </a:pPr>
            <a:r>
              <a:rPr lang="en-US" sz="5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asistente POE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08006"/>
            <a:ext cx="7745711" cy="562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Visió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n Art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ificial apl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icada a Ecografías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Carga de Imágenes: 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usuario o profesional sube la imagen de ultrasonido mamario a la plataforma web.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Procesamiento CNN: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El modelo analiza patrones tisulares clasificando el nivel de sospecha (Benigno / Maligno / Normal).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Explicabilidad Asistida: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Proporciona un mapa de calor o indicador visual para apoyar el pre-triaje y guiar la consulta profesional.</a:t>
            </a:r>
          </a:p>
          <a:p>
            <a:pPr algn="ctr">
              <a:lnSpc>
                <a:spcPts val="316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13589" y="3308006"/>
            <a:ext cx="7745711" cy="402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I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ntegr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a</a:t>
            </a:r>
            <a:r>
              <a:rPr lang="en-US" sz="2899" b="true">
                <a:solidFill>
                  <a:srgbClr val="FF751F"/>
                </a:solidFill>
                <a:latin typeface="Roboto Bold"/>
                <a:ea typeface="Roboto Bold"/>
                <a:cs typeface="Roboto Bold"/>
                <a:sym typeface="Roboto Bold"/>
              </a:rPr>
              <a:t>ción con API Poe 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Procesamiento de Lenguaje Natural: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Conexión mediante API al motor de Poe.com personalizado con un prompt médico regulado.</a:t>
            </a:r>
          </a:p>
          <a:p>
            <a:pPr algn="ctr">
              <a:lnSpc>
                <a:spcPts val="3163"/>
              </a:lnSpc>
            </a:pPr>
          </a:p>
          <a:p>
            <a:pPr algn="ctr">
              <a:lnSpc>
                <a:spcPts val="3163"/>
              </a:lnSpc>
            </a:pPr>
            <a:r>
              <a:rPr lang="en-US" b="true" sz="2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Traducción de Lenguaje Técnico: </a:t>
            </a: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Transforma porcentajes de riesgo e informes complejos en recomendaciones comprensibles.</a:t>
            </a:r>
          </a:p>
          <a:p>
            <a:pPr algn="l">
              <a:lnSpc>
                <a:spcPts val="3163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625064" y="3014200"/>
          <a:ext cx="5657850" cy="3771900"/>
        </p:xfrm>
        <a:graphic>
          <a:graphicData uri="http://schemas.openxmlformats.org/presentationml/2006/ole">
            <p:oleObj imgW="6781800" imgH="4902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08764" y="1456583"/>
            <a:ext cx="16300671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0"/>
              </a:lnSpc>
            </a:pPr>
            <a:r>
              <a:rPr lang="en-US" sz="5000">
                <a:solidFill>
                  <a:srgbClr val="00000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Arquitectura del proyecto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07851" y="1123950"/>
            <a:ext cx="15872298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2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Casos de usos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0232" y="2391508"/>
            <a:ext cx="17007535" cy="6866792"/>
          </a:xfrm>
          <a:custGeom>
            <a:avLst/>
            <a:gdLst/>
            <a:ahLst/>
            <a:cxnLst/>
            <a:rect r="r" b="b" t="t" l="l"/>
            <a:pathLst>
              <a:path h="6866792" w="17007535">
                <a:moveTo>
                  <a:pt x="0" y="0"/>
                </a:moveTo>
                <a:lnTo>
                  <a:pt x="17007536" y="0"/>
                </a:lnTo>
                <a:lnTo>
                  <a:pt x="17007536" y="6866792"/>
                </a:lnTo>
                <a:lnTo>
                  <a:pt x="0" y="6866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175" y="257175"/>
            <a:ext cx="17773650" cy="9772555"/>
            <a:chOff x="0" y="0"/>
            <a:chExt cx="4681093" cy="257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093" cy="2573909"/>
            </a:xfrm>
            <a:custGeom>
              <a:avLst/>
              <a:gdLst/>
              <a:ahLst/>
              <a:cxnLst/>
              <a:rect r="r" b="b" t="t" l="l"/>
              <a:pathLst>
                <a:path h="2573909" w="4681093">
                  <a:moveTo>
                    <a:pt x="4681093" y="8276"/>
                  </a:moveTo>
                  <a:lnTo>
                    <a:pt x="4681093" y="2565633"/>
                  </a:lnTo>
                  <a:cubicBezTo>
                    <a:pt x="4681093" y="2570204"/>
                    <a:pt x="4677388" y="2573909"/>
                    <a:pt x="4672817" y="2573909"/>
                  </a:cubicBezTo>
                  <a:lnTo>
                    <a:pt x="8276" y="2573909"/>
                  </a:lnTo>
                  <a:cubicBezTo>
                    <a:pt x="3705" y="2573909"/>
                    <a:pt x="0" y="2570204"/>
                    <a:pt x="0" y="2565633"/>
                  </a:cubicBezTo>
                  <a:lnTo>
                    <a:pt x="0" y="8276"/>
                  </a:lnTo>
                  <a:cubicBezTo>
                    <a:pt x="0" y="3705"/>
                    <a:pt x="3705" y="0"/>
                    <a:pt x="8276" y="0"/>
                  </a:cubicBezTo>
                  <a:lnTo>
                    <a:pt x="4672817" y="0"/>
                  </a:lnTo>
                  <a:cubicBezTo>
                    <a:pt x="4677388" y="0"/>
                    <a:pt x="4681093" y="3705"/>
                    <a:pt x="4681093" y="8276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093" cy="261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175" y="253621"/>
            <a:ext cx="3163159" cy="775079"/>
          </a:xfrm>
          <a:custGeom>
            <a:avLst/>
            <a:gdLst/>
            <a:ahLst/>
            <a:cxnLst/>
            <a:rect r="r" b="b" t="t" l="l"/>
            <a:pathLst>
              <a:path h="775079" w="3163159">
                <a:moveTo>
                  <a:pt x="0" y="0"/>
                </a:moveTo>
                <a:lnTo>
                  <a:pt x="3163159" y="0"/>
                </a:lnTo>
                <a:lnTo>
                  <a:pt x="3163159" y="775079"/>
                </a:lnTo>
                <a:lnTo>
                  <a:pt x="0" y="775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07430" y="1158550"/>
            <a:ext cx="5194065" cy="8062249"/>
          </a:xfrm>
          <a:custGeom>
            <a:avLst/>
            <a:gdLst/>
            <a:ahLst/>
            <a:cxnLst/>
            <a:rect r="r" b="b" t="t" l="l"/>
            <a:pathLst>
              <a:path h="8062249" w="5194065">
                <a:moveTo>
                  <a:pt x="0" y="0"/>
                </a:moveTo>
                <a:lnTo>
                  <a:pt x="5194064" y="0"/>
                </a:lnTo>
                <a:lnTo>
                  <a:pt x="5194064" y="8062249"/>
                </a:lnTo>
                <a:lnTo>
                  <a:pt x="0" y="8062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21484" y="1874812"/>
            <a:ext cx="9410992" cy="6139167"/>
          </a:xfrm>
          <a:custGeom>
            <a:avLst/>
            <a:gdLst/>
            <a:ahLst/>
            <a:cxnLst/>
            <a:rect r="r" b="b" t="t" l="l"/>
            <a:pathLst>
              <a:path h="6139167" w="9410992">
                <a:moveTo>
                  <a:pt x="0" y="0"/>
                </a:moveTo>
                <a:lnTo>
                  <a:pt x="9410992" y="0"/>
                </a:lnTo>
                <a:lnTo>
                  <a:pt x="9410992" y="6139167"/>
                </a:lnTo>
                <a:lnTo>
                  <a:pt x="0" y="6139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DAHSTYmlge0</dc:identifier>
  <dcterms:modified xsi:type="dcterms:W3CDTF">2011-08-01T06:04:30Z</dcterms:modified>
  <cp:revision>1</cp:revision>
  <dc:title>PROYECTO_TITULO_CAPSTONE_mesias_quiroz</dc:title>
</cp:coreProperties>
</file>
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pen Sans 1 Bold" charset="1" panose="020B0806030504020204"/>
      <p:regular r:id="rId15"/>
    </p:embeddedFont>
    <p:embeddedFont>
      <p:font typeface="Open Sans 1" charset="1" panose="020B0606030504020204"/>
      <p:regular r:id="rId16"/>
    </p:embeddedFont>
    <p:embeddedFont>
      <p:font typeface="Open Sans 1 Italics" charset="1" panose="020B0606030504020204"/>
      <p:regular r:id="rId17"/>
    </p:embeddedFont>
    <p:embeddedFont>
      <p:font typeface="Open Sans 1 Bold Italics" charset="1" panose="020B0806030504020204"/>
      <p:regular r:id="rId18"/>
    </p:embeddedFont>
    <p:embeddedFont>
      <p:font typeface="Open Sans 2"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VAHX0vfXLKI.mp4" Type="http://schemas.openxmlformats.org/officeDocument/2006/relationships/video"/><Relationship Id="rId4" Target="../media/VAHX0vfXLKI.mp4" Type="http://schemas.microsoft.com/office/2007/relationships/media"/><Relationship Id="rId5" Target="../media/image3.jpeg" Type="http://schemas.openxmlformats.org/officeDocument/2006/relationships/image"/><Relationship Id="rId6" Target="../media/VAHX0kibx74.mp4" Type="http://schemas.openxmlformats.org/officeDocument/2006/relationships/video"/><Relationship Id="rId7" Target="../media/VAHX0kibx74.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jpeg" Type="http://schemas.openxmlformats.org/officeDocument/2006/relationships/image"/><Relationship Id="rId4" Target="../media/image7.png" Type="http://schemas.openxmlformats.org/officeDocument/2006/relationships/image"/><Relationship Id="rId5" Target="../embeddings/oleObject1.bin" Type="http://schemas.openxmlformats.org/officeDocument/2006/relationships/oleObjec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75250" y="672959"/>
            <a:ext cx="3099366" cy="611245"/>
          </a:xfrm>
          <a:custGeom>
            <a:avLst/>
            <a:gdLst/>
            <a:ahLst/>
            <a:cxnLst/>
            <a:rect r="r" b="b" t="t" l="l"/>
            <a:pathLst>
              <a:path h="611245" w="3099366">
                <a:moveTo>
                  <a:pt x="0" y="0"/>
                </a:moveTo>
                <a:lnTo>
                  <a:pt x="3099366" y="0"/>
                </a:lnTo>
                <a:lnTo>
                  <a:pt x="3099366" y="611245"/>
                </a:lnTo>
                <a:lnTo>
                  <a:pt x="0" y="611245"/>
                </a:lnTo>
                <a:lnTo>
                  <a:pt x="0" y="0"/>
                </a:lnTo>
                <a:close/>
              </a:path>
            </a:pathLst>
          </a:custGeom>
          <a:blipFill>
            <a:blip r:embed="rId2"/>
            <a:stretch>
              <a:fillRect l="0" t="-37402" r="0" b="-10686"/>
            </a:stretch>
          </a:blipFill>
        </p:spPr>
      </p:sp>
      <p:sp>
        <p:nvSpPr>
          <p:cNvPr name="TextBox 3" id="3"/>
          <p:cNvSpPr txBox="true"/>
          <p:nvPr/>
        </p:nvSpPr>
        <p:spPr>
          <a:xfrm rot="0">
            <a:off x="2404171" y="2155786"/>
            <a:ext cx="13048923" cy="3073400"/>
          </a:xfrm>
          <a:prstGeom prst="rect">
            <a:avLst/>
          </a:prstGeom>
        </p:spPr>
        <p:txBody>
          <a:bodyPr anchor="t" rtlCol="false" tIns="0" lIns="0" bIns="0" rIns="0">
            <a:spAutoFit/>
          </a:bodyPr>
          <a:lstStyle/>
          <a:p>
            <a:pPr algn="ctr">
              <a:lnSpc>
                <a:spcPts val="4900"/>
              </a:lnSpc>
            </a:pPr>
            <a:r>
              <a:rPr lang="en-US" sz="3500" b="true">
                <a:solidFill>
                  <a:srgbClr val="000000"/>
                </a:solidFill>
                <a:latin typeface="Open Sans 1 Bold"/>
                <a:ea typeface="Open Sans 1 Bold"/>
                <a:cs typeface="Open Sans 1 Bold"/>
                <a:sym typeface="Open Sans 1 Bold"/>
              </a:rPr>
              <a:t>Red Mamaria Preventiva</a:t>
            </a:r>
          </a:p>
          <a:p>
            <a:pPr algn="ctr">
              <a:lnSpc>
                <a:spcPts val="4900"/>
              </a:lnSpc>
              <a:spcBef>
                <a:spcPct val="0"/>
              </a:spcBef>
            </a:pPr>
            <a:r>
              <a:rPr lang="en-US" b="true" sz="3500">
                <a:solidFill>
                  <a:srgbClr val="000000"/>
                </a:solidFill>
                <a:latin typeface="Open Sans 1 Bold"/>
                <a:ea typeface="Open Sans 1 Bold"/>
                <a:cs typeface="Open Sans 1 Bold"/>
                <a:sym typeface="Open Sans 1 Bold"/>
              </a:rPr>
              <a:t>Plataforma Web Educativa y de Apoyo mediante Inteligencia Artificial para la Prevención del Cáncer de Mama</a:t>
            </a:r>
          </a:p>
          <a:p>
            <a:pPr algn="ctr">
              <a:lnSpc>
                <a:spcPts val="4900"/>
              </a:lnSpc>
              <a:spcBef>
                <a:spcPct val="0"/>
              </a:spcBef>
            </a:pPr>
          </a:p>
        </p:txBody>
      </p:sp>
      <p:sp>
        <p:nvSpPr>
          <p:cNvPr name="TextBox 4" id="4"/>
          <p:cNvSpPr txBox="true"/>
          <p:nvPr/>
        </p:nvSpPr>
        <p:spPr>
          <a:xfrm rot="0">
            <a:off x="5996351" y="5344862"/>
            <a:ext cx="6688535" cy="422275"/>
          </a:xfrm>
          <a:prstGeom prst="rect">
            <a:avLst/>
          </a:prstGeom>
        </p:spPr>
        <p:txBody>
          <a:bodyPr anchor="t" rtlCol="false" tIns="0" lIns="0" bIns="0" rIns="0">
            <a:spAutoFit/>
          </a:bodyPr>
          <a:lstStyle/>
          <a:p>
            <a:pPr algn="ctr">
              <a:lnSpc>
                <a:spcPts val="3499"/>
              </a:lnSpc>
            </a:pPr>
            <a:r>
              <a:rPr lang="en-US" sz="2499" b="true">
                <a:solidFill>
                  <a:srgbClr val="000000"/>
                </a:solidFill>
                <a:latin typeface="Open Sans 1 Bold"/>
                <a:ea typeface="Open Sans 1 Bold"/>
                <a:cs typeface="Open Sans 1 Bold"/>
                <a:sym typeface="Open Sans 1 Bold"/>
              </a:rPr>
              <a:t>Proyecto </a:t>
            </a:r>
            <a:r>
              <a:rPr lang="en-US" b="true" sz="2499">
                <a:solidFill>
                  <a:srgbClr val="000000"/>
                </a:solidFill>
                <a:latin typeface="Open Sans 1 Bold"/>
                <a:ea typeface="Open Sans 1 Bold"/>
                <a:cs typeface="Open Sans 1 Bold"/>
                <a:sym typeface="Open Sans 1 Bold"/>
              </a:rPr>
              <a:t>APT – Ingeniería en Informática</a:t>
            </a:r>
          </a:p>
        </p:txBody>
      </p:sp>
      <p:sp>
        <p:nvSpPr>
          <p:cNvPr name="TextBox 5" id="5"/>
          <p:cNvSpPr txBox="true"/>
          <p:nvPr/>
        </p:nvSpPr>
        <p:spPr>
          <a:xfrm rot="0">
            <a:off x="5996351" y="6928646"/>
            <a:ext cx="6688535" cy="1298575"/>
          </a:xfrm>
          <a:prstGeom prst="rect">
            <a:avLst/>
          </a:prstGeom>
        </p:spPr>
        <p:txBody>
          <a:bodyPr anchor="t" rtlCol="false" tIns="0" lIns="0" bIns="0" rIns="0">
            <a:spAutoFit/>
          </a:bodyPr>
          <a:lstStyle/>
          <a:p>
            <a:pPr algn="ctr">
              <a:lnSpc>
                <a:spcPts val="3499"/>
              </a:lnSpc>
            </a:pPr>
            <a:r>
              <a:rPr lang="en-US" sz="2499" b="true">
                <a:solidFill>
                  <a:srgbClr val="000000"/>
                </a:solidFill>
                <a:latin typeface="Open Sans 1 Bold"/>
                <a:ea typeface="Open Sans 1 Bold"/>
                <a:cs typeface="Open Sans 1 Bold"/>
                <a:sym typeface="Open Sans 1 Bold"/>
              </a:rPr>
              <a:t>Diego Mesias</a:t>
            </a:r>
          </a:p>
          <a:p>
            <a:pPr algn="ctr">
              <a:lnSpc>
                <a:spcPts val="3499"/>
              </a:lnSpc>
            </a:pPr>
            <a:r>
              <a:rPr lang="en-US" sz="2499" b="true">
                <a:solidFill>
                  <a:srgbClr val="000000"/>
                </a:solidFill>
                <a:latin typeface="Open Sans 1 Bold"/>
                <a:ea typeface="Open Sans 1 Bold"/>
                <a:cs typeface="Open Sans 1 Bold"/>
                <a:sym typeface="Open Sans 1 Bold"/>
              </a:rPr>
              <a:t>Francisco Qu</a:t>
            </a:r>
            <a:r>
              <a:rPr lang="en-US" b="true" sz="2499">
                <a:solidFill>
                  <a:srgbClr val="000000"/>
                </a:solidFill>
                <a:latin typeface="Open Sans 1 Bold"/>
                <a:ea typeface="Open Sans 1 Bold"/>
                <a:cs typeface="Open Sans 1 Bold"/>
                <a:sym typeface="Open Sans 1 Bold"/>
              </a:rPr>
              <a:t>iroz</a:t>
            </a:r>
          </a:p>
          <a:p>
            <a:pPr algn="ctr">
              <a:lnSpc>
                <a:spcPts val="3499"/>
              </a:lnSpc>
            </a:pPr>
            <a:r>
              <a:rPr lang="en-US" b="true" sz="2499">
                <a:solidFill>
                  <a:srgbClr val="000000"/>
                </a:solidFill>
                <a:latin typeface="Open Sans 1 Bold"/>
                <a:ea typeface="Open Sans 1 Bold"/>
                <a:cs typeface="Open Sans 1 Bold"/>
                <a:sym typeface="Open Sans 1 Bold"/>
              </a:rPr>
              <a:t>Matías Moya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75250" y="672959"/>
            <a:ext cx="3099366" cy="611245"/>
          </a:xfrm>
          <a:custGeom>
            <a:avLst/>
            <a:gdLst/>
            <a:ahLst/>
            <a:cxnLst/>
            <a:rect r="r" b="b" t="t" l="l"/>
            <a:pathLst>
              <a:path h="611245" w="3099366">
                <a:moveTo>
                  <a:pt x="0" y="0"/>
                </a:moveTo>
                <a:lnTo>
                  <a:pt x="3099366" y="0"/>
                </a:lnTo>
                <a:lnTo>
                  <a:pt x="3099366" y="611245"/>
                </a:lnTo>
                <a:lnTo>
                  <a:pt x="0" y="611245"/>
                </a:lnTo>
                <a:lnTo>
                  <a:pt x="0" y="0"/>
                </a:lnTo>
                <a:close/>
              </a:path>
            </a:pathLst>
          </a:custGeom>
          <a:blipFill>
            <a:blip r:embed="rId2"/>
            <a:stretch>
              <a:fillRect l="0" t="-37402" r="0" b="-10686"/>
            </a:stretch>
          </a:blipFill>
        </p:spPr>
      </p:sp>
      <p:sp>
        <p:nvSpPr>
          <p:cNvPr name="TextBox 3" id="3"/>
          <p:cNvSpPr txBox="true"/>
          <p:nvPr/>
        </p:nvSpPr>
        <p:spPr>
          <a:xfrm rot="0">
            <a:off x="5583978" y="1498133"/>
            <a:ext cx="6144816"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Open Sans 1 Bold"/>
                <a:ea typeface="Open Sans 1 Bold"/>
                <a:cs typeface="Open Sans 1 Bold"/>
                <a:sym typeface="Open Sans 1 Bold"/>
              </a:rPr>
              <a:t> Problemática y objetivo</a:t>
            </a:r>
          </a:p>
        </p:txBody>
      </p:sp>
      <p:sp>
        <p:nvSpPr>
          <p:cNvPr name="TextBox 4" id="4"/>
          <p:cNvSpPr txBox="true"/>
          <p:nvPr/>
        </p:nvSpPr>
        <p:spPr>
          <a:xfrm rot="0">
            <a:off x="1259763" y="4509012"/>
            <a:ext cx="6971328" cy="2463800"/>
          </a:xfrm>
          <a:prstGeom prst="rect">
            <a:avLst/>
          </a:prstGeom>
        </p:spPr>
        <p:txBody>
          <a:bodyPr anchor="t" rtlCol="false" tIns="0" lIns="0" bIns="0" rIns="0">
            <a:spAutoFit/>
          </a:bodyPr>
          <a:lstStyle/>
          <a:p>
            <a:pPr algn="just">
              <a:lnSpc>
                <a:spcPts val="2800"/>
              </a:lnSpc>
            </a:pPr>
            <a:r>
              <a:rPr lang="en-US" sz="2000">
                <a:solidFill>
                  <a:srgbClr val="000000"/>
                </a:solidFill>
                <a:latin typeface="Open Sans 1"/>
                <a:ea typeface="Open Sans 1"/>
                <a:cs typeface="Open Sans 1"/>
                <a:sym typeface="Open Sans 1"/>
              </a:rPr>
              <a:t>Actualm</a:t>
            </a:r>
            <a:r>
              <a:rPr lang="en-US" sz="2000">
                <a:solidFill>
                  <a:srgbClr val="000000"/>
                </a:solidFill>
                <a:latin typeface="Open Sans 1"/>
                <a:ea typeface="Open Sans 1"/>
                <a:cs typeface="Open Sans 1"/>
                <a:sym typeface="Open Sans 1"/>
              </a:rPr>
              <a:t>ente existe una gran cantidad de información relacionada con el cáncer de mama, pero gran parte de ella se presenta de manera estática y poco interactiva. Además, la presencia de mitos y desinformación puede dificultar el aprendizaje de conceptos relacionados con prevención y autocuidado.</a:t>
            </a:r>
          </a:p>
          <a:p>
            <a:pPr algn="just">
              <a:lnSpc>
                <a:spcPts val="2800"/>
              </a:lnSpc>
            </a:pPr>
          </a:p>
        </p:txBody>
      </p:sp>
      <p:sp>
        <p:nvSpPr>
          <p:cNvPr name="TextBox 5" id="5"/>
          <p:cNvSpPr txBox="true"/>
          <p:nvPr/>
        </p:nvSpPr>
        <p:spPr>
          <a:xfrm rot="0">
            <a:off x="1226477" y="3576673"/>
            <a:ext cx="4357500" cy="514349"/>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1 Bold"/>
                <a:ea typeface="Open Sans 1 Bold"/>
                <a:cs typeface="Open Sans 1 Bold"/>
                <a:sym typeface="Open Sans 1 Bold"/>
              </a:rPr>
              <a:t>Problema Identificado </a:t>
            </a:r>
          </a:p>
        </p:txBody>
      </p:sp>
      <p:sp>
        <p:nvSpPr>
          <p:cNvPr name="TextBox 6" id="6"/>
          <p:cNvSpPr txBox="true"/>
          <p:nvPr/>
        </p:nvSpPr>
        <p:spPr>
          <a:xfrm rot="0">
            <a:off x="10403288" y="4401451"/>
            <a:ext cx="6971328" cy="1758950"/>
          </a:xfrm>
          <a:prstGeom prst="rect">
            <a:avLst/>
          </a:prstGeom>
        </p:spPr>
        <p:txBody>
          <a:bodyPr anchor="t" rtlCol="false" tIns="0" lIns="0" bIns="0" rIns="0">
            <a:spAutoFit/>
          </a:bodyPr>
          <a:lstStyle/>
          <a:p>
            <a:pPr algn="just">
              <a:lnSpc>
                <a:spcPts val="2800"/>
              </a:lnSpc>
            </a:pPr>
            <a:r>
              <a:rPr lang="en-US" sz="2000">
                <a:solidFill>
                  <a:srgbClr val="000000"/>
                </a:solidFill>
                <a:latin typeface="Open Sans 1"/>
                <a:ea typeface="Open Sans 1"/>
                <a:cs typeface="Open Sans 1"/>
                <a:sym typeface="Open Sans 1"/>
              </a:rPr>
              <a:t>Desarrollar una plataforma</a:t>
            </a:r>
            <a:r>
              <a:rPr lang="en-US" sz="2000">
                <a:solidFill>
                  <a:srgbClr val="000000"/>
                </a:solidFill>
                <a:latin typeface="Open Sans 1"/>
                <a:ea typeface="Open Sans 1"/>
                <a:cs typeface="Open Sans 1"/>
                <a:sym typeface="Open Sans 1"/>
              </a:rPr>
              <a:t> web interactiva orientada a la educación preventiva sobre el cáncer de mama, integrando contenidos educativos, un asistente conversacional y un módulo experimental de análisis preliminar de imágenes mediante inteligencia artificial.</a:t>
            </a:r>
          </a:p>
        </p:txBody>
      </p:sp>
      <p:sp>
        <p:nvSpPr>
          <p:cNvPr name="TextBox 7" id="7"/>
          <p:cNvSpPr txBox="true"/>
          <p:nvPr/>
        </p:nvSpPr>
        <p:spPr>
          <a:xfrm rot="0">
            <a:off x="10370002" y="3469112"/>
            <a:ext cx="3518950" cy="514349"/>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1 Bold"/>
                <a:ea typeface="Open Sans 1 Bold"/>
                <a:cs typeface="Open Sans 1 Bold"/>
                <a:sym typeface="Open Sans 1 Bold"/>
              </a:rPr>
              <a:t>Objetivo general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75250" y="672959"/>
            <a:ext cx="3099366" cy="611245"/>
          </a:xfrm>
          <a:custGeom>
            <a:avLst/>
            <a:gdLst/>
            <a:ahLst/>
            <a:cxnLst/>
            <a:rect r="r" b="b" t="t" l="l"/>
            <a:pathLst>
              <a:path h="611245" w="3099366">
                <a:moveTo>
                  <a:pt x="0" y="0"/>
                </a:moveTo>
                <a:lnTo>
                  <a:pt x="3099366" y="0"/>
                </a:lnTo>
                <a:lnTo>
                  <a:pt x="3099366" y="611245"/>
                </a:lnTo>
                <a:lnTo>
                  <a:pt x="0" y="611245"/>
                </a:lnTo>
                <a:lnTo>
                  <a:pt x="0" y="0"/>
                </a:lnTo>
                <a:close/>
              </a:path>
            </a:pathLst>
          </a:custGeom>
          <a:blipFill>
            <a:blip r:embed="rId2"/>
            <a:stretch>
              <a:fillRect l="0" t="-37402" r="0" b="-10686"/>
            </a:stretch>
          </a:blipFill>
        </p:spPr>
      </p:sp>
      <p:sp>
        <p:nvSpPr>
          <p:cNvPr name="TextBox 3" id="3"/>
          <p:cNvSpPr txBox="true"/>
          <p:nvPr/>
        </p:nvSpPr>
        <p:spPr>
          <a:xfrm rot="0">
            <a:off x="6262793" y="952500"/>
            <a:ext cx="4881562"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Open Sans 1 Bold"/>
                <a:ea typeface="Open Sans 1 Bold"/>
                <a:cs typeface="Open Sans 1 Bold"/>
                <a:sym typeface="Open Sans 1 Bold"/>
              </a:rPr>
              <a:t>S</a:t>
            </a:r>
            <a:r>
              <a:rPr lang="en-US" b="true" sz="3999">
                <a:solidFill>
                  <a:srgbClr val="000000"/>
                </a:solidFill>
                <a:latin typeface="Open Sans 1 Bold"/>
                <a:ea typeface="Open Sans 1 Bold"/>
                <a:cs typeface="Open Sans 1 Bold"/>
                <a:sym typeface="Open Sans 1 Bold"/>
              </a:rPr>
              <a:t>olución propuesta</a:t>
            </a:r>
          </a:p>
        </p:txBody>
      </p:sp>
      <p:sp>
        <p:nvSpPr>
          <p:cNvPr name="TextBox 4" id="4"/>
          <p:cNvSpPr txBox="true"/>
          <p:nvPr/>
        </p:nvSpPr>
        <p:spPr>
          <a:xfrm rot="0">
            <a:off x="10339545" y="3963571"/>
            <a:ext cx="6190974" cy="609412"/>
          </a:xfrm>
          <a:prstGeom prst="rect">
            <a:avLst/>
          </a:prstGeom>
        </p:spPr>
        <p:txBody>
          <a:bodyPr anchor="t" rtlCol="false" tIns="0" lIns="0" bIns="0" rIns="0">
            <a:spAutoFit/>
          </a:bodyPr>
          <a:lstStyle/>
          <a:p>
            <a:pPr algn="just">
              <a:lnSpc>
                <a:spcPts val="2486"/>
              </a:lnSpc>
            </a:pPr>
            <a:r>
              <a:rPr lang="en-US" sz="1776">
                <a:solidFill>
                  <a:srgbClr val="000000"/>
                </a:solidFill>
                <a:latin typeface="Open Sans 1"/>
                <a:ea typeface="Open Sans 1"/>
                <a:cs typeface="Open Sans 1"/>
                <a:sym typeface="Open Sans 1"/>
              </a:rPr>
              <a:t>Chatbot</a:t>
            </a:r>
            <a:r>
              <a:rPr lang="en-US" sz="1776">
                <a:solidFill>
                  <a:srgbClr val="000000"/>
                </a:solidFill>
                <a:latin typeface="Open Sans 1"/>
                <a:ea typeface="Open Sans 1"/>
                <a:cs typeface="Open Sans 1"/>
                <a:sym typeface="Open Sans 1"/>
              </a:rPr>
              <a:t> integrado con Gemini para responder consultas en lenguaje natural.</a:t>
            </a:r>
          </a:p>
        </p:txBody>
      </p:sp>
      <p:sp>
        <p:nvSpPr>
          <p:cNvPr name="TextBox 5" id="5"/>
          <p:cNvSpPr txBox="true"/>
          <p:nvPr/>
        </p:nvSpPr>
        <p:spPr>
          <a:xfrm rot="0">
            <a:off x="10309985" y="3115480"/>
            <a:ext cx="3125047" cy="463171"/>
          </a:xfrm>
          <a:prstGeom prst="rect">
            <a:avLst/>
          </a:prstGeom>
        </p:spPr>
        <p:txBody>
          <a:bodyPr anchor="t" rtlCol="false" tIns="0" lIns="0" bIns="0" rIns="0">
            <a:spAutoFit/>
          </a:bodyPr>
          <a:lstStyle/>
          <a:p>
            <a:pPr algn="ctr">
              <a:lnSpc>
                <a:spcPts val="3729"/>
              </a:lnSpc>
            </a:pPr>
            <a:r>
              <a:rPr lang="en-US" sz="2664" b="true">
                <a:solidFill>
                  <a:srgbClr val="000000"/>
                </a:solidFill>
                <a:latin typeface="Open Sans 1 Bold"/>
                <a:ea typeface="Open Sans 1 Bold"/>
                <a:cs typeface="Open Sans 1 Bold"/>
                <a:sym typeface="Open Sans 1 Bold"/>
              </a:rPr>
              <a:t>Asistente Chatbot</a:t>
            </a:r>
          </a:p>
        </p:txBody>
      </p:sp>
      <p:sp>
        <p:nvSpPr>
          <p:cNvPr name="TextBox 6" id="6"/>
          <p:cNvSpPr txBox="true"/>
          <p:nvPr/>
        </p:nvSpPr>
        <p:spPr>
          <a:xfrm rot="0">
            <a:off x="4990369" y="1740721"/>
            <a:ext cx="7794129" cy="372745"/>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Open Sans 1"/>
                <a:ea typeface="Open Sans 1"/>
                <a:cs typeface="Open Sans 1"/>
                <a:sym typeface="Open Sans 1"/>
              </a:rPr>
              <a:t>Red Mamaria Preventiva integra cuatr</a:t>
            </a:r>
            <a:r>
              <a:rPr lang="en-US" sz="2199">
                <a:solidFill>
                  <a:srgbClr val="000000"/>
                </a:solidFill>
                <a:latin typeface="Open Sans 1"/>
                <a:ea typeface="Open Sans 1"/>
                <a:cs typeface="Open Sans 1"/>
                <a:sym typeface="Open Sans 1"/>
              </a:rPr>
              <a:t>o módulos principales</a:t>
            </a:r>
          </a:p>
        </p:txBody>
      </p:sp>
      <p:sp>
        <p:nvSpPr>
          <p:cNvPr name="TextBox 7" id="7"/>
          <p:cNvSpPr txBox="true"/>
          <p:nvPr/>
        </p:nvSpPr>
        <p:spPr>
          <a:xfrm rot="0">
            <a:off x="1964961" y="4166582"/>
            <a:ext cx="6190974" cy="609412"/>
          </a:xfrm>
          <a:prstGeom prst="rect">
            <a:avLst/>
          </a:prstGeom>
        </p:spPr>
        <p:txBody>
          <a:bodyPr anchor="t" rtlCol="false" tIns="0" lIns="0" bIns="0" rIns="0">
            <a:spAutoFit/>
          </a:bodyPr>
          <a:lstStyle/>
          <a:p>
            <a:pPr algn="just">
              <a:lnSpc>
                <a:spcPts val="2486"/>
              </a:lnSpc>
            </a:pPr>
            <a:r>
              <a:rPr lang="en-US" sz="1776">
                <a:solidFill>
                  <a:srgbClr val="000000"/>
                </a:solidFill>
                <a:latin typeface="Open Sans 1"/>
                <a:ea typeface="Open Sans 1"/>
                <a:cs typeface="Open Sans 1"/>
                <a:sym typeface="Open Sans 1"/>
              </a:rPr>
              <a:t>A</a:t>
            </a:r>
            <a:r>
              <a:rPr lang="en-US" sz="1776">
                <a:solidFill>
                  <a:srgbClr val="000000"/>
                </a:solidFill>
                <a:latin typeface="Open Sans 1"/>
                <a:ea typeface="Open Sans 1"/>
                <a:cs typeface="Open Sans 1"/>
                <a:sym typeface="Open Sans 1"/>
              </a:rPr>
              <a:t>ctividades, preguntas y retroalimentación para reforzar conocimientos.</a:t>
            </a:r>
          </a:p>
        </p:txBody>
      </p:sp>
      <p:sp>
        <p:nvSpPr>
          <p:cNvPr name="TextBox 8" id="8"/>
          <p:cNvSpPr txBox="true"/>
          <p:nvPr/>
        </p:nvSpPr>
        <p:spPr>
          <a:xfrm rot="0">
            <a:off x="1935401" y="3318491"/>
            <a:ext cx="3125047" cy="463171"/>
          </a:xfrm>
          <a:prstGeom prst="rect">
            <a:avLst/>
          </a:prstGeom>
        </p:spPr>
        <p:txBody>
          <a:bodyPr anchor="t" rtlCol="false" tIns="0" lIns="0" bIns="0" rIns="0">
            <a:spAutoFit/>
          </a:bodyPr>
          <a:lstStyle/>
          <a:p>
            <a:pPr algn="ctr">
              <a:lnSpc>
                <a:spcPts val="3729"/>
              </a:lnSpc>
            </a:pPr>
            <a:r>
              <a:rPr lang="en-US" sz="2664" b="true">
                <a:solidFill>
                  <a:srgbClr val="000000"/>
                </a:solidFill>
                <a:latin typeface="Open Sans 1 Bold"/>
                <a:ea typeface="Open Sans 1 Bold"/>
                <a:cs typeface="Open Sans 1 Bold"/>
                <a:sym typeface="Open Sans 1 Bold"/>
              </a:rPr>
              <a:t>Módulo Educativo</a:t>
            </a:r>
          </a:p>
        </p:txBody>
      </p:sp>
      <p:sp>
        <p:nvSpPr>
          <p:cNvPr name="TextBox 9" id="9"/>
          <p:cNvSpPr txBox="true"/>
          <p:nvPr/>
        </p:nvSpPr>
        <p:spPr>
          <a:xfrm rot="0">
            <a:off x="1787041" y="6626099"/>
            <a:ext cx="6190974" cy="609412"/>
          </a:xfrm>
          <a:prstGeom prst="rect">
            <a:avLst/>
          </a:prstGeom>
        </p:spPr>
        <p:txBody>
          <a:bodyPr anchor="t" rtlCol="false" tIns="0" lIns="0" bIns="0" rIns="0">
            <a:spAutoFit/>
          </a:bodyPr>
          <a:lstStyle/>
          <a:p>
            <a:pPr algn="just">
              <a:lnSpc>
                <a:spcPts val="2486"/>
              </a:lnSpc>
            </a:pPr>
            <a:r>
              <a:rPr lang="en-US" sz="1776">
                <a:solidFill>
                  <a:srgbClr val="000000"/>
                </a:solidFill>
                <a:latin typeface="Open Sans 1"/>
                <a:ea typeface="Open Sans 1"/>
                <a:cs typeface="Open Sans 1"/>
                <a:sym typeface="Open Sans 1"/>
              </a:rPr>
              <a:t>Perm</a:t>
            </a:r>
            <a:r>
              <a:rPr lang="en-US" sz="1776">
                <a:solidFill>
                  <a:srgbClr val="000000"/>
                </a:solidFill>
                <a:latin typeface="Open Sans 1"/>
                <a:ea typeface="Open Sans 1"/>
                <a:cs typeface="Open Sans 1"/>
                <a:sym typeface="Open Sans 1"/>
              </a:rPr>
              <a:t>ite cargar una imagen y obtener un análisis preliminar generado por una red neuronal convolucional.</a:t>
            </a:r>
          </a:p>
        </p:txBody>
      </p:sp>
      <p:sp>
        <p:nvSpPr>
          <p:cNvPr name="TextBox 10" id="10"/>
          <p:cNvSpPr txBox="true"/>
          <p:nvPr/>
        </p:nvSpPr>
        <p:spPr>
          <a:xfrm rot="0">
            <a:off x="1757481" y="5778008"/>
            <a:ext cx="6176570" cy="463171"/>
          </a:xfrm>
          <a:prstGeom prst="rect">
            <a:avLst/>
          </a:prstGeom>
        </p:spPr>
        <p:txBody>
          <a:bodyPr anchor="t" rtlCol="false" tIns="0" lIns="0" bIns="0" rIns="0">
            <a:spAutoFit/>
          </a:bodyPr>
          <a:lstStyle/>
          <a:p>
            <a:pPr algn="ctr">
              <a:lnSpc>
                <a:spcPts val="3729"/>
              </a:lnSpc>
            </a:pPr>
            <a:r>
              <a:rPr lang="en-US" sz="2664" b="true">
                <a:solidFill>
                  <a:srgbClr val="000000"/>
                </a:solidFill>
                <a:latin typeface="Open Sans 1 Bold"/>
                <a:ea typeface="Open Sans 1 Bold"/>
                <a:cs typeface="Open Sans 1 Bold"/>
                <a:sym typeface="Open Sans 1 Bold"/>
              </a:rPr>
              <a:t>Análisis de imágenes mediante CNN</a:t>
            </a:r>
          </a:p>
        </p:txBody>
      </p:sp>
      <p:sp>
        <p:nvSpPr>
          <p:cNvPr name="TextBox 11" id="11"/>
          <p:cNvSpPr txBox="true"/>
          <p:nvPr/>
        </p:nvSpPr>
        <p:spPr>
          <a:xfrm rot="0">
            <a:off x="10339545" y="6626099"/>
            <a:ext cx="6190974" cy="609412"/>
          </a:xfrm>
          <a:prstGeom prst="rect">
            <a:avLst/>
          </a:prstGeom>
        </p:spPr>
        <p:txBody>
          <a:bodyPr anchor="t" rtlCol="false" tIns="0" lIns="0" bIns="0" rIns="0">
            <a:spAutoFit/>
          </a:bodyPr>
          <a:lstStyle/>
          <a:p>
            <a:pPr algn="just">
              <a:lnSpc>
                <a:spcPts val="2486"/>
              </a:lnSpc>
            </a:pPr>
            <a:r>
              <a:rPr lang="en-US" sz="1776">
                <a:solidFill>
                  <a:srgbClr val="000000"/>
                </a:solidFill>
                <a:latin typeface="Open Sans 1"/>
                <a:ea typeface="Open Sans 1"/>
                <a:cs typeface="Open Sans 1"/>
                <a:sym typeface="Open Sans 1"/>
              </a:rPr>
              <a:t>Adm</a:t>
            </a:r>
            <a:r>
              <a:rPr lang="en-US" sz="1776">
                <a:solidFill>
                  <a:srgbClr val="000000"/>
                </a:solidFill>
                <a:latin typeface="Open Sans 1"/>
                <a:ea typeface="Open Sans 1"/>
                <a:cs typeface="Open Sans 1"/>
                <a:sym typeface="Open Sans 1"/>
              </a:rPr>
              <a:t>inistración de usuarios, preguntas y contenidos mediante Django Admin.</a:t>
            </a:r>
          </a:p>
        </p:txBody>
      </p:sp>
      <p:sp>
        <p:nvSpPr>
          <p:cNvPr name="TextBox 12" id="12"/>
          <p:cNvSpPr txBox="true"/>
          <p:nvPr/>
        </p:nvSpPr>
        <p:spPr>
          <a:xfrm rot="0">
            <a:off x="10309985" y="5981018"/>
            <a:ext cx="4304759" cy="463171"/>
          </a:xfrm>
          <a:prstGeom prst="rect">
            <a:avLst/>
          </a:prstGeom>
        </p:spPr>
        <p:txBody>
          <a:bodyPr anchor="t" rtlCol="false" tIns="0" lIns="0" bIns="0" rIns="0">
            <a:spAutoFit/>
          </a:bodyPr>
          <a:lstStyle/>
          <a:p>
            <a:pPr algn="ctr">
              <a:lnSpc>
                <a:spcPts val="3729"/>
              </a:lnSpc>
            </a:pPr>
            <a:r>
              <a:rPr lang="en-US" sz="2664" b="true">
                <a:solidFill>
                  <a:srgbClr val="000000"/>
                </a:solidFill>
                <a:latin typeface="Open Sans 1 Bold"/>
                <a:ea typeface="Open Sans 1 Bold"/>
                <a:cs typeface="Open Sans 1 Bold"/>
                <a:sym typeface="Open Sans 1 Bold"/>
              </a:rPr>
              <a:t>Gestión Administrativa</a:t>
            </a:r>
          </a:p>
        </p:txBody>
      </p:sp>
      <p:sp>
        <p:nvSpPr>
          <p:cNvPr name="TextBox 13" id="13"/>
          <p:cNvSpPr txBox="true"/>
          <p:nvPr/>
        </p:nvSpPr>
        <p:spPr>
          <a:xfrm rot="0">
            <a:off x="4465930" y="9210675"/>
            <a:ext cx="10582275" cy="349250"/>
          </a:xfrm>
          <a:prstGeom prst="rect">
            <a:avLst/>
          </a:prstGeom>
        </p:spPr>
        <p:txBody>
          <a:bodyPr anchor="t" rtlCol="false" tIns="0" lIns="0" bIns="0" rIns="0">
            <a:spAutoFit/>
          </a:bodyPr>
          <a:lstStyle/>
          <a:p>
            <a:pPr algn="ctr">
              <a:lnSpc>
                <a:spcPts val="2800"/>
              </a:lnSpc>
              <a:spcBef>
                <a:spcPct val="0"/>
              </a:spcBef>
            </a:pPr>
            <a:r>
              <a:rPr lang="en-US" sz="2000" i="true">
                <a:solidFill>
                  <a:srgbClr val="000000"/>
                </a:solidFill>
                <a:latin typeface="Open Sans 1 Italics"/>
                <a:ea typeface="Open Sans 1 Italics"/>
                <a:cs typeface="Open Sans 1 Italics"/>
                <a:sym typeface="Open Sans 1 Italics"/>
              </a:rPr>
              <a:t>La plataforma centraliza educación, interacción e inteligencia artificial en una misma solución.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75250" y="672959"/>
            <a:ext cx="3099366" cy="611245"/>
          </a:xfrm>
          <a:custGeom>
            <a:avLst/>
            <a:gdLst/>
            <a:ahLst/>
            <a:cxnLst/>
            <a:rect r="r" b="b" t="t" l="l"/>
            <a:pathLst>
              <a:path h="611245" w="3099366">
                <a:moveTo>
                  <a:pt x="0" y="0"/>
                </a:moveTo>
                <a:lnTo>
                  <a:pt x="3099366" y="0"/>
                </a:lnTo>
                <a:lnTo>
                  <a:pt x="3099366" y="611245"/>
                </a:lnTo>
                <a:lnTo>
                  <a:pt x="0" y="611245"/>
                </a:lnTo>
                <a:lnTo>
                  <a:pt x="0" y="0"/>
                </a:lnTo>
                <a:close/>
              </a:path>
            </a:pathLst>
          </a:custGeom>
          <a:blipFill>
            <a:blip r:embed="rId2"/>
            <a:stretch>
              <a:fillRect l="0" t="-37402" r="0" b="-10686"/>
            </a:stretch>
          </a:blipFill>
        </p:spPr>
      </p:sp>
      <p:sp>
        <p:nvSpPr>
          <p:cNvPr name="TextBox 3" id="3"/>
          <p:cNvSpPr txBox="true"/>
          <p:nvPr/>
        </p:nvSpPr>
        <p:spPr>
          <a:xfrm rot="0">
            <a:off x="5585997" y="952500"/>
            <a:ext cx="6235154"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Open Sans 1 Bold"/>
                <a:ea typeface="Open Sans 1 Bold"/>
                <a:cs typeface="Open Sans 1 Bold"/>
                <a:sym typeface="Open Sans 1 Bold"/>
              </a:rPr>
              <a:t> Inn</a:t>
            </a:r>
            <a:r>
              <a:rPr lang="en-US" b="true" sz="3999">
                <a:solidFill>
                  <a:srgbClr val="000000"/>
                </a:solidFill>
                <a:latin typeface="Open Sans 1 Bold"/>
                <a:ea typeface="Open Sans 1 Bold"/>
                <a:cs typeface="Open Sans 1 Bold"/>
                <a:sym typeface="Open Sans 1 Bold"/>
              </a:rPr>
              <a:t>ovación del proyecto</a:t>
            </a:r>
          </a:p>
        </p:txBody>
      </p:sp>
      <p:sp>
        <p:nvSpPr>
          <p:cNvPr name="TextBox 4" id="4"/>
          <p:cNvSpPr txBox="true"/>
          <p:nvPr/>
        </p:nvSpPr>
        <p:spPr>
          <a:xfrm rot="0">
            <a:off x="10339545" y="3963571"/>
            <a:ext cx="6190974" cy="609412"/>
          </a:xfrm>
          <a:prstGeom prst="rect">
            <a:avLst/>
          </a:prstGeom>
        </p:spPr>
        <p:txBody>
          <a:bodyPr anchor="t" rtlCol="false" tIns="0" lIns="0" bIns="0" rIns="0">
            <a:spAutoFit/>
          </a:bodyPr>
          <a:lstStyle/>
          <a:p>
            <a:pPr algn="just">
              <a:lnSpc>
                <a:spcPts val="2486"/>
              </a:lnSpc>
            </a:pPr>
            <a:r>
              <a:rPr lang="en-US" sz="1776">
                <a:solidFill>
                  <a:srgbClr val="000000"/>
                </a:solidFill>
                <a:latin typeface="Open Sans 1"/>
                <a:ea typeface="Open Sans 1"/>
                <a:cs typeface="Open Sans 1"/>
                <a:sym typeface="Open Sans 1"/>
              </a:rPr>
              <a:t>El usuario participa</a:t>
            </a:r>
            <a:r>
              <a:rPr lang="en-US" sz="1776">
                <a:solidFill>
                  <a:srgbClr val="000000"/>
                </a:solidFill>
                <a:latin typeface="Open Sans 1"/>
                <a:ea typeface="Open Sans 1"/>
                <a:cs typeface="Open Sans 1"/>
                <a:sym typeface="Open Sans 1"/>
              </a:rPr>
              <a:t> mediante actividades y recibe retroalimentación, en lugar de limitarse a leer información.</a:t>
            </a:r>
          </a:p>
        </p:txBody>
      </p:sp>
      <p:sp>
        <p:nvSpPr>
          <p:cNvPr name="TextBox 5" id="5"/>
          <p:cNvSpPr txBox="true"/>
          <p:nvPr/>
        </p:nvSpPr>
        <p:spPr>
          <a:xfrm rot="0">
            <a:off x="10479732" y="3337541"/>
            <a:ext cx="3965265" cy="396240"/>
          </a:xfrm>
          <a:prstGeom prst="rect">
            <a:avLst/>
          </a:prstGeom>
        </p:spPr>
        <p:txBody>
          <a:bodyPr anchor="t" rtlCol="false" tIns="0" lIns="0" bIns="0" rIns="0">
            <a:spAutoFit/>
          </a:bodyPr>
          <a:lstStyle/>
          <a:p>
            <a:pPr algn="ctr">
              <a:lnSpc>
                <a:spcPts val="3359"/>
              </a:lnSpc>
            </a:pPr>
            <a:r>
              <a:rPr lang="en-US" sz="2400" b="true">
                <a:solidFill>
                  <a:srgbClr val="000000"/>
                </a:solidFill>
                <a:latin typeface="Open Sans 1 Bold"/>
                <a:ea typeface="Open Sans 1 Bold"/>
                <a:cs typeface="Open Sans 1 Bold"/>
                <a:sym typeface="Open Sans 1 Bold"/>
              </a:rPr>
              <a:t>Educación interactiva</a:t>
            </a:r>
          </a:p>
        </p:txBody>
      </p:sp>
      <p:sp>
        <p:nvSpPr>
          <p:cNvPr name="TextBox 6" id="6"/>
          <p:cNvSpPr txBox="true"/>
          <p:nvPr/>
        </p:nvSpPr>
        <p:spPr>
          <a:xfrm rot="0">
            <a:off x="1964961" y="4166582"/>
            <a:ext cx="6190974" cy="609412"/>
          </a:xfrm>
          <a:prstGeom prst="rect">
            <a:avLst/>
          </a:prstGeom>
        </p:spPr>
        <p:txBody>
          <a:bodyPr anchor="t" rtlCol="false" tIns="0" lIns="0" bIns="0" rIns="0">
            <a:spAutoFit/>
          </a:bodyPr>
          <a:lstStyle/>
          <a:p>
            <a:pPr algn="just">
              <a:lnSpc>
                <a:spcPts val="2486"/>
              </a:lnSpc>
            </a:pPr>
            <a:r>
              <a:rPr lang="en-US" sz="1776">
                <a:solidFill>
                  <a:srgbClr val="000000"/>
                </a:solidFill>
                <a:latin typeface="Open Sans 1"/>
                <a:ea typeface="Open Sans 1"/>
                <a:cs typeface="Open Sans 1"/>
                <a:sym typeface="Open Sans 1"/>
              </a:rPr>
              <a:t>D</a:t>
            </a:r>
            <a:r>
              <a:rPr lang="en-US" sz="1776">
                <a:solidFill>
                  <a:srgbClr val="000000"/>
                </a:solidFill>
                <a:latin typeface="Open Sans 1"/>
                <a:ea typeface="Open Sans 1"/>
                <a:cs typeface="Open Sans 1"/>
                <a:sym typeface="Open Sans 1"/>
              </a:rPr>
              <a:t>esarrollo web, base de datos, IA conversacional y visión computacional dentro de una misma plataforma.</a:t>
            </a:r>
          </a:p>
        </p:txBody>
      </p:sp>
      <p:sp>
        <p:nvSpPr>
          <p:cNvPr name="TextBox 7" id="7"/>
          <p:cNvSpPr txBox="true"/>
          <p:nvPr/>
        </p:nvSpPr>
        <p:spPr>
          <a:xfrm rot="0">
            <a:off x="1935401" y="3337541"/>
            <a:ext cx="4808103" cy="396240"/>
          </a:xfrm>
          <a:prstGeom prst="rect">
            <a:avLst/>
          </a:prstGeom>
        </p:spPr>
        <p:txBody>
          <a:bodyPr anchor="t" rtlCol="false" tIns="0" lIns="0" bIns="0" rIns="0">
            <a:spAutoFit/>
          </a:bodyPr>
          <a:lstStyle/>
          <a:p>
            <a:pPr algn="ctr">
              <a:lnSpc>
                <a:spcPts val="3359"/>
              </a:lnSpc>
            </a:pPr>
            <a:r>
              <a:rPr lang="en-US" sz="2400" b="true">
                <a:solidFill>
                  <a:srgbClr val="000000"/>
                </a:solidFill>
                <a:latin typeface="Open Sans 1 Bold"/>
                <a:ea typeface="Open Sans 1 Bold"/>
                <a:cs typeface="Open Sans 1 Bold"/>
                <a:sym typeface="Open Sans 1 Bold"/>
              </a:rPr>
              <a:t>¿Dónde está la innovación?</a:t>
            </a:r>
          </a:p>
        </p:txBody>
      </p:sp>
      <p:sp>
        <p:nvSpPr>
          <p:cNvPr name="TextBox 8" id="8"/>
          <p:cNvSpPr txBox="true"/>
          <p:nvPr/>
        </p:nvSpPr>
        <p:spPr>
          <a:xfrm rot="0">
            <a:off x="1787041" y="6626099"/>
            <a:ext cx="6190974" cy="609412"/>
          </a:xfrm>
          <a:prstGeom prst="rect">
            <a:avLst/>
          </a:prstGeom>
        </p:spPr>
        <p:txBody>
          <a:bodyPr anchor="t" rtlCol="false" tIns="0" lIns="0" bIns="0" rIns="0">
            <a:spAutoFit/>
          </a:bodyPr>
          <a:lstStyle/>
          <a:p>
            <a:pPr algn="just">
              <a:lnSpc>
                <a:spcPts val="2486"/>
              </a:lnSpc>
            </a:pPr>
            <a:r>
              <a:rPr lang="en-US" sz="1776">
                <a:solidFill>
                  <a:srgbClr val="000000"/>
                </a:solidFill>
                <a:latin typeface="Open Sans 1"/>
                <a:ea typeface="Open Sans 1"/>
                <a:cs typeface="Open Sans 1"/>
                <a:sym typeface="Open Sans 1"/>
              </a:rPr>
              <a:t>Son</a:t>
            </a:r>
            <a:r>
              <a:rPr lang="en-US" sz="1776">
                <a:solidFill>
                  <a:srgbClr val="000000"/>
                </a:solidFill>
                <a:latin typeface="Open Sans 1"/>
                <a:ea typeface="Open Sans 1"/>
                <a:cs typeface="Open Sans 1"/>
                <a:sym typeface="Open Sans 1"/>
              </a:rPr>
              <a:t>ia utiliza Gemini para entregar respuestas educativas de forma sencilla y accesible.</a:t>
            </a:r>
          </a:p>
        </p:txBody>
      </p:sp>
      <p:sp>
        <p:nvSpPr>
          <p:cNvPr name="TextBox 9" id="9"/>
          <p:cNvSpPr txBox="true"/>
          <p:nvPr/>
        </p:nvSpPr>
        <p:spPr>
          <a:xfrm rot="0">
            <a:off x="1757481" y="5797058"/>
            <a:ext cx="6176570" cy="396240"/>
          </a:xfrm>
          <a:prstGeom prst="rect">
            <a:avLst/>
          </a:prstGeom>
        </p:spPr>
        <p:txBody>
          <a:bodyPr anchor="t" rtlCol="false" tIns="0" lIns="0" bIns="0" rIns="0">
            <a:spAutoFit/>
          </a:bodyPr>
          <a:lstStyle/>
          <a:p>
            <a:pPr algn="ctr">
              <a:lnSpc>
                <a:spcPts val="3359"/>
              </a:lnSpc>
            </a:pPr>
            <a:r>
              <a:rPr lang="en-US" sz="2400" b="true">
                <a:solidFill>
                  <a:srgbClr val="000000"/>
                </a:solidFill>
                <a:latin typeface="Open Sans 1 Bold"/>
                <a:ea typeface="Open Sans 1 Bold"/>
                <a:cs typeface="Open Sans 1 Bold"/>
                <a:sym typeface="Open Sans 1 Bold"/>
              </a:rPr>
              <a:t> Inteligencia artificial conversacional</a:t>
            </a:r>
          </a:p>
        </p:txBody>
      </p:sp>
      <p:sp>
        <p:nvSpPr>
          <p:cNvPr name="TextBox 10" id="10"/>
          <p:cNvSpPr txBox="true"/>
          <p:nvPr/>
        </p:nvSpPr>
        <p:spPr>
          <a:xfrm rot="0">
            <a:off x="10339545" y="6626099"/>
            <a:ext cx="6190974" cy="609412"/>
          </a:xfrm>
          <a:prstGeom prst="rect">
            <a:avLst/>
          </a:prstGeom>
        </p:spPr>
        <p:txBody>
          <a:bodyPr anchor="t" rtlCol="false" tIns="0" lIns="0" bIns="0" rIns="0">
            <a:spAutoFit/>
          </a:bodyPr>
          <a:lstStyle/>
          <a:p>
            <a:pPr algn="just">
              <a:lnSpc>
                <a:spcPts val="2486"/>
              </a:lnSpc>
            </a:pPr>
            <a:r>
              <a:rPr lang="en-US" sz="1776">
                <a:solidFill>
                  <a:srgbClr val="000000"/>
                </a:solidFill>
                <a:latin typeface="Open Sans 1"/>
                <a:ea typeface="Open Sans 1"/>
                <a:cs typeface="Open Sans 1"/>
                <a:sym typeface="Open Sans 1"/>
              </a:rPr>
              <a:t>La plataforma </a:t>
            </a:r>
            <a:r>
              <a:rPr lang="en-US" sz="1776">
                <a:solidFill>
                  <a:srgbClr val="000000"/>
                </a:solidFill>
                <a:latin typeface="Open Sans 1"/>
                <a:ea typeface="Open Sans 1"/>
                <a:cs typeface="Open Sans 1"/>
                <a:sym typeface="Open Sans 1"/>
              </a:rPr>
              <a:t>integra una red CNN entrenada que permite procesar imágenes y entregar una clasificación preliminar.</a:t>
            </a:r>
          </a:p>
        </p:txBody>
      </p:sp>
      <p:sp>
        <p:nvSpPr>
          <p:cNvPr name="TextBox 11" id="11"/>
          <p:cNvSpPr txBox="true"/>
          <p:nvPr/>
        </p:nvSpPr>
        <p:spPr>
          <a:xfrm rot="0">
            <a:off x="10479732" y="5797058"/>
            <a:ext cx="4304759" cy="396240"/>
          </a:xfrm>
          <a:prstGeom prst="rect">
            <a:avLst/>
          </a:prstGeom>
        </p:spPr>
        <p:txBody>
          <a:bodyPr anchor="t" rtlCol="false" tIns="0" lIns="0" bIns="0" rIns="0">
            <a:spAutoFit/>
          </a:bodyPr>
          <a:lstStyle/>
          <a:p>
            <a:pPr algn="ctr">
              <a:lnSpc>
                <a:spcPts val="3359"/>
              </a:lnSpc>
            </a:pPr>
            <a:r>
              <a:rPr lang="en-US" sz="2400" b="true">
                <a:solidFill>
                  <a:srgbClr val="000000"/>
                </a:solidFill>
                <a:latin typeface="Open Sans 1 Bold"/>
                <a:ea typeface="Open Sans 1 Bold"/>
                <a:cs typeface="Open Sans 1 Bold"/>
                <a:sym typeface="Open Sans 1 Bold"/>
              </a:rPr>
              <a:t> Análisis mediante CNN</a:t>
            </a:r>
          </a:p>
        </p:txBody>
      </p:sp>
      <p:sp>
        <p:nvSpPr>
          <p:cNvPr name="TextBox 12" id="12"/>
          <p:cNvSpPr txBox="true"/>
          <p:nvPr/>
        </p:nvSpPr>
        <p:spPr>
          <a:xfrm rot="0">
            <a:off x="2259181" y="9210675"/>
            <a:ext cx="14995773" cy="349250"/>
          </a:xfrm>
          <a:prstGeom prst="rect">
            <a:avLst/>
          </a:prstGeom>
        </p:spPr>
        <p:txBody>
          <a:bodyPr anchor="t" rtlCol="false" tIns="0" lIns="0" bIns="0" rIns="0">
            <a:spAutoFit/>
          </a:bodyPr>
          <a:lstStyle/>
          <a:p>
            <a:pPr algn="ctr">
              <a:lnSpc>
                <a:spcPts val="2800"/>
              </a:lnSpc>
              <a:spcBef>
                <a:spcPct val="0"/>
              </a:spcBef>
            </a:pPr>
            <a:r>
              <a:rPr lang="en-US" b="true" sz="2000" i="true">
                <a:solidFill>
                  <a:srgbClr val="000000"/>
                </a:solidFill>
                <a:latin typeface="Open Sans 1 Bold Italics"/>
                <a:ea typeface="Open Sans 1 Bold Italics"/>
                <a:cs typeface="Open Sans 1 Bold Italics"/>
                <a:sym typeface="Open Sans 1 Bold Italics"/>
              </a:rPr>
              <a:t>Tr</a:t>
            </a:r>
            <a:r>
              <a:rPr lang="en-US" b="true" sz="2000" i="true">
                <a:solidFill>
                  <a:srgbClr val="000000"/>
                </a:solidFill>
                <a:latin typeface="Open Sans 1 Bold Italics"/>
                <a:ea typeface="Open Sans 1 Bold Italics"/>
                <a:cs typeface="Open Sans 1 Bold Italics"/>
                <a:sym typeface="Open Sans 1 Bold Italics"/>
              </a:rPr>
              <a:t>ansformamos información preventiva estática en una experiencia educativa interactiva apoyada por inteligencia artificial.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75250" y="672959"/>
            <a:ext cx="3099366" cy="611245"/>
          </a:xfrm>
          <a:custGeom>
            <a:avLst/>
            <a:gdLst/>
            <a:ahLst/>
            <a:cxnLst/>
            <a:rect r="r" b="b" t="t" l="l"/>
            <a:pathLst>
              <a:path h="611245" w="3099366">
                <a:moveTo>
                  <a:pt x="0" y="0"/>
                </a:moveTo>
                <a:lnTo>
                  <a:pt x="3099366" y="0"/>
                </a:lnTo>
                <a:lnTo>
                  <a:pt x="3099366" y="611245"/>
                </a:lnTo>
                <a:lnTo>
                  <a:pt x="0" y="611245"/>
                </a:lnTo>
                <a:lnTo>
                  <a:pt x="0" y="0"/>
                </a:lnTo>
                <a:close/>
              </a:path>
            </a:pathLst>
          </a:custGeom>
          <a:blipFill>
            <a:blip r:embed="rId2"/>
            <a:stretch>
              <a:fillRect l="0" t="-37402" r="0" b="-10686"/>
            </a:stretch>
          </a:blipFill>
        </p:spPr>
      </p:sp>
      <p:sp>
        <p:nvSpPr>
          <p:cNvPr name="TextBox 3" id="3"/>
          <p:cNvSpPr txBox="true"/>
          <p:nvPr/>
        </p:nvSpPr>
        <p:spPr>
          <a:xfrm rot="0">
            <a:off x="5341472" y="952500"/>
            <a:ext cx="6724204"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Open Sans 1 Bold"/>
                <a:ea typeface="Open Sans 1 Bold"/>
                <a:cs typeface="Open Sans 1 Bold"/>
                <a:sym typeface="Open Sans 1 Bold"/>
              </a:rPr>
              <a:t>Arquitectura y m</a:t>
            </a:r>
            <a:r>
              <a:rPr lang="en-US" b="true" sz="3999">
                <a:solidFill>
                  <a:srgbClr val="000000"/>
                </a:solidFill>
                <a:latin typeface="Open Sans 1 Bold"/>
                <a:ea typeface="Open Sans 1 Bold"/>
                <a:cs typeface="Open Sans 1 Bold"/>
                <a:sym typeface="Open Sans 1 Bold"/>
              </a:rPr>
              <a:t>odelo 4+1</a:t>
            </a:r>
          </a:p>
        </p:txBody>
      </p:sp>
      <p:sp>
        <p:nvSpPr>
          <p:cNvPr name="TextBox 4" id="4"/>
          <p:cNvSpPr txBox="true"/>
          <p:nvPr/>
        </p:nvSpPr>
        <p:spPr>
          <a:xfrm rot="0">
            <a:off x="7097837" y="4062680"/>
            <a:ext cx="3241708" cy="290801"/>
          </a:xfrm>
          <a:prstGeom prst="rect">
            <a:avLst/>
          </a:prstGeom>
        </p:spPr>
        <p:txBody>
          <a:bodyPr anchor="t" rtlCol="false" tIns="0" lIns="0" bIns="0" rIns="0">
            <a:spAutoFit/>
          </a:bodyPr>
          <a:lstStyle/>
          <a:p>
            <a:pPr algn="just">
              <a:lnSpc>
                <a:spcPts val="2346"/>
              </a:lnSpc>
            </a:pPr>
            <a:r>
              <a:rPr lang="en-US" sz="1676">
                <a:solidFill>
                  <a:srgbClr val="000000"/>
                </a:solidFill>
                <a:latin typeface="Open Sans 1"/>
                <a:ea typeface="Open Sans 1"/>
                <a:cs typeface="Open Sans 1"/>
                <a:sym typeface="Open Sans 1"/>
              </a:rPr>
              <a:t>Clas</a:t>
            </a:r>
            <a:r>
              <a:rPr lang="en-US" sz="1676">
                <a:solidFill>
                  <a:srgbClr val="000000"/>
                </a:solidFill>
                <a:latin typeface="Open Sans 1"/>
                <a:ea typeface="Open Sans 1"/>
                <a:cs typeface="Open Sans 1"/>
                <a:sym typeface="Open Sans 1"/>
              </a:rPr>
              <a:t>es y estructura del sistema.</a:t>
            </a:r>
          </a:p>
        </p:txBody>
      </p:sp>
      <p:sp>
        <p:nvSpPr>
          <p:cNvPr name="TextBox 5" id="5"/>
          <p:cNvSpPr txBox="true"/>
          <p:nvPr/>
        </p:nvSpPr>
        <p:spPr>
          <a:xfrm rot="0">
            <a:off x="6877624" y="3328016"/>
            <a:ext cx="3461921" cy="389575"/>
          </a:xfrm>
          <a:prstGeom prst="rect">
            <a:avLst/>
          </a:prstGeom>
        </p:spPr>
        <p:txBody>
          <a:bodyPr anchor="t" rtlCol="false" tIns="0" lIns="0" bIns="0" rIns="0">
            <a:spAutoFit/>
          </a:bodyPr>
          <a:lstStyle/>
          <a:p>
            <a:pPr algn="ctr">
              <a:lnSpc>
                <a:spcPts val="3202"/>
              </a:lnSpc>
            </a:pPr>
            <a:r>
              <a:rPr lang="en-US" sz="2287" b="true">
                <a:solidFill>
                  <a:srgbClr val="000000"/>
                </a:solidFill>
                <a:latin typeface="Open Sans 1 Bold"/>
                <a:ea typeface="Open Sans 1 Bold"/>
                <a:cs typeface="Open Sans 1 Bold"/>
                <a:sym typeface="Open Sans 1 Bold"/>
              </a:rPr>
              <a:t>Vista Lógica</a:t>
            </a:r>
          </a:p>
        </p:txBody>
      </p:sp>
      <p:sp>
        <p:nvSpPr>
          <p:cNvPr name="TextBox 6" id="6"/>
          <p:cNvSpPr txBox="true"/>
          <p:nvPr/>
        </p:nvSpPr>
        <p:spPr>
          <a:xfrm rot="0">
            <a:off x="1655782" y="4062680"/>
            <a:ext cx="2513140" cy="290801"/>
          </a:xfrm>
          <a:prstGeom prst="rect">
            <a:avLst/>
          </a:prstGeom>
        </p:spPr>
        <p:txBody>
          <a:bodyPr anchor="t" rtlCol="false" tIns="0" lIns="0" bIns="0" rIns="0">
            <a:spAutoFit/>
          </a:bodyPr>
          <a:lstStyle/>
          <a:p>
            <a:pPr algn="just">
              <a:lnSpc>
                <a:spcPts val="2346"/>
              </a:lnSpc>
            </a:pPr>
            <a:r>
              <a:rPr lang="en-US" sz="1676">
                <a:solidFill>
                  <a:srgbClr val="000000"/>
                </a:solidFill>
                <a:latin typeface="Open Sans 1"/>
                <a:ea typeface="Open Sans 1"/>
                <a:cs typeface="Open Sans 1"/>
                <a:sym typeface="Open Sans 1"/>
              </a:rPr>
              <a:t>C</a:t>
            </a:r>
            <a:r>
              <a:rPr lang="en-US" sz="1676">
                <a:solidFill>
                  <a:srgbClr val="000000"/>
                </a:solidFill>
                <a:latin typeface="Open Sans 1"/>
                <a:ea typeface="Open Sans 1"/>
                <a:cs typeface="Open Sans 1"/>
                <a:sym typeface="Open Sans 1"/>
              </a:rPr>
              <a:t>asos de uso y actores.</a:t>
            </a:r>
          </a:p>
        </p:txBody>
      </p:sp>
      <p:sp>
        <p:nvSpPr>
          <p:cNvPr name="TextBox 7" id="7"/>
          <p:cNvSpPr txBox="true"/>
          <p:nvPr/>
        </p:nvSpPr>
        <p:spPr>
          <a:xfrm rot="0">
            <a:off x="834336" y="3328016"/>
            <a:ext cx="4156033" cy="389575"/>
          </a:xfrm>
          <a:prstGeom prst="rect">
            <a:avLst/>
          </a:prstGeom>
        </p:spPr>
        <p:txBody>
          <a:bodyPr anchor="t" rtlCol="false" tIns="0" lIns="0" bIns="0" rIns="0">
            <a:spAutoFit/>
          </a:bodyPr>
          <a:lstStyle/>
          <a:p>
            <a:pPr algn="ctr">
              <a:lnSpc>
                <a:spcPts val="3202"/>
              </a:lnSpc>
            </a:pPr>
            <a:r>
              <a:rPr lang="en-US" sz="2287" b="true">
                <a:solidFill>
                  <a:srgbClr val="000000"/>
                </a:solidFill>
                <a:latin typeface="Open Sans 1 Bold"/>
                <a:ea typeface="Open Sans 1 Bold"/>
                <a:cs typeface="Open Sans 1 Bold"/>
                <a:sym typeface="Open Sans 1 Bold"/>
              </a:rPr>
              <a:t>+1 Vista de Escenarios</a:t>
            </a:r>
          </a:p>
        </p:txBody>
      </p:sp>
      <p:sp>
        <p:nvSpPr>
          <p:cNvPr name="TextBox 8" id="8"/>
          <p:cNvSpPr txBox="true"/>
          <p:nvPr/>
        </p:nvSpPr>
        <p:spPr>
          <a:xfrm rot="0">
            <a:off x="1820586" y="6605086"/>
            <a:ext cx="4696671" cy="290801"/>
          </a:xfrm>
          <a:prstGeom prst="rect">
            <a:avLst/>
          </a:prstGeom>
        </p:spPr>
        <p:txBody>
          <a:bodyPr anchor="t" rtlCol="false" tIns="0" lIns="0" bIns="0" rIns="0">
            <a:spAutoFit/>
          </a:bodyPr>
          <a:lstStyle/>
          <a:p>
            <a:pPr algn="just">
              <a:lnSpc>
                <a:spcPts val="2346"/>
              </a:lnSpc>
            </a:pPr>
            <a:r>
              <a:rPr lang="en-US" sz="1676">
                <a:solidFill>
                  <a:srgbClr val="000000"/>
                </a:solidFill>
                <a:latin typeface="Open Sans 1"/>
                <a:ea typeface="Open Sans 1"/>
                <a:cs typeface="Open Sans 1"/>
                <a:sym typeface="Open Sans 1"/>
              </a:rPr>
              <a:t>Organ</a:t>
            </a:r>
            <a:r>
              <a:rPr lang="en-US" sz="1676">
                <a:solidFill>
                  <a:srgbClr val="000000"/>
                </a:solidFill>
                <a:latin typeface="Open Sans 1"/>
                <a:ea typeface="Open Sans 1"/>
                <a:cs typeface="Open Sans 1"/>
                <a:sym typeface="Open Sans 1"/>
              </a:rPr>
              <a:t>ización de módulos y componentes.</a:t>
            </a:r>
          </a:p>
        </p:txBody>
      </p:sp>
      <p:sp>
        <p:nvSpPr>
          <p:cNvPr name="TextBox 9" id="9"/>
          <p:cNvSpPr txBox="true"/>
          <p:nvPr/>
        </p:nvSpPr>
        <p:spPr>
          <a:xfrm rot="0">
            <a:off x="1028700" y="5944828"/>
            <a:ext cx="5626037" cy="389575"/>
          </a:xfrm>
          <a:prstGeom prst="rect">
            <a:avLst/>
          </a:prstGeom>
        </p:spPr>
        <p:txBody>
          <a:bodyPr anchor="t" rtlCol="false" tIns="0" lIns="0" bIns="0" rIns="0">
            <a:spAutoFit/>
          </a:bodyPr>
          <a:lstStyle/>
          <a:p>
            <a:pPr algn="ctr">
              <a:lnSpc>
                <a:spcPts val="3202"/>
              </a:lnSpc>
            </a:pPr>
            <a:r>
              <a:rPr lang="en-US" sz="2287" b="true">
                <a:solidFill>
                  <a:srgbClr val="000000"/>
                </a:solidFill>
                <a:latin typeface="Open Sans 1 Bold"/>
                <a:ea typeface="Open Sans 1 Bold"/>
                <a:cs typeface="Open Sans 1 Bold"/>
                <a:sym typeface="Open Sans 1 Bold"/>
              </a:rPr>
              <a:t>Vista de Desarrollo</a:t>
            </a:r>
          </a:p>
        </p:txBody>
      </p:sp>
      <p:sp>
        <p:nvSpPr>
          <p:cNvPr name="TextBox 10" id="10"/>
          <p:cNvSpPr txBox="true"/>
          <p:nvPr/>
        </p:nvSpPr>
        <p:spPr>
          <a:xfrm rot="0">
            <a:off x="12784497" y="4062680"/>
            <a:ext cx="5184286" cy="586076"/>
          </a:xfrm>
          <a:prstGeom prst="rect">
            <a:avLst/>
          </a:prstGeom>
        </p:spPr>
        <p:txBody>
          <a:bodyPr anchor="t" rtlCol="false" tIns="0" lIns="0" bIns="0" rIns="0">
            <a:spAutoFit/>
          </a:bodyPr>
          <a:lstStyle/>
          <a:p>
            <a:pPr algn="just">
              <a:lnSpc>
                <a:spcPts val="2346"/>
              </a:lnSpc>
            </a:pPr>
            <a:r>
              <a:rPr lang="en-US" sz="1676">
                <a:solidFill>
                  <a:srgbClr val="000000"/>
                </a:solidFill>
                <a:latin typeface="Open Sans 1"/>
                <a:ea typeface="Open Sans 1"/>
                <a:cs typeface="Open Sans 1"/>
                <a:sym typeface="Open Sans 1"/>
              </a:rPr>
              <a:t>I</a:t>
            </a:r>
            <a:r>
              <a:rPr lang="en-US" sz="1676">
                <a:solidFill>
                  <a:srgbClr val="000000"/>
                </a:solidFill>
                <a:latin typeface="Open Sans 1"/>
                <a:ea typeface="Open Sans 1"/>
                <a:cs typeface="Open Sans 1"/>
                <a:sym typeface="Open Sans 1"/>
              </a:rPr>
              <a:t>nteracción entre usuario, Django, CNN, Sonia y base de datos.</a:t>
            </a:r>
          </a:p>
        </p:txBody>
      </p:sp>
      <p:sp>
        <p:nvSpPr>
          <p:cNvPr name="TextBox 11" id="11"/>
          <p:cNvSpPr txBox="true"/>
          <p:nvPr/>
        </p:nvSpPr>
        <p:spPr>
          <a:xfrm rot="0">
            <a:off x="12784497" y="3328016"/>
            <a:ext cx="3659850" cy="389575"/>
          </a:xfrm>
          <a:prstGeom prst="rect">
            <a:avLst/>
          </a:prstGeom>
        </p:spPr>
        <p:txBody>
          <a:bodyPr anchor="t" rtlCol="false" tIns="0" lIns="0" bIns="0" rIns="0">
            <a:spAutoFit/>
          </a:bodyPr>
          <a:lstStyle/>
          <a:p>
            <a:pPr algn="ctr">
              <a:lnSpc>
                <a:spcPts val="3202"/>
              </a:lnSpc>
            </a:pPr>
            <a:r>
              <a:rPr lang="en-US" sz="2287" b="true">
                <a:solidFill>
                  <a:srgbClr val="000000"/>
                </a:solidFill>
                <a:latin typeface="Open Sans 1 Bold"/>
                <a:ea typeface="Open Sans 1 Bold"/>
                <a:cs typeface="Open Sans 1 Bold"/>
                <a:sym typeface="Open Sans 1 Bold"/>
              </a:rPr>
              <a:t>Vista de Procesos</a:t>
            </a:r>
          </a:p>
        </p:txBody>
      </p:sp>
      <p:sp>
        <p:nvSpPr>
          <p:cNvPr name="TextBox 12" id="12"/>
          <p:cNvSpPr txBox="true"/>
          <p:nvPr/>
        </p:nvSpPr>
        <p:spPr>
          <a:xfrm rot="0">
            <a:off x="6391498" y="7974249"/>
            <a:ext cx="5505004" cy="587376"/>
          </a:xfrm>
          <a:prstGeom prst="rect">
            <a:avLst/>
          </a:prstGeom>
        </p:spPr>
        <p:txBody>
          <a:bodyPr anchor="t" rtlCol="false" tIns="0" lIns="0" bIns="0" rIns="0">
            <a:spAutoFit/>
          </a:bodyPr>
          <a:lstStyle/>
          <a:p>
            <a:pPr algn="ctr">
              <a:lnSpc>
                <a:spcPts val="4899"/>
              </a:lnSpc>
              <a:spcBef>
                <a:spcPct val="0"/>
              </a:spcBef>
            </a:pPr>
            <a:r>
              <a:rPr lang="en-US" b="true" sz="3499">
                <a:solidFill>
                  <a:srgbClr val="000000"/>
                </a:solidFill>
                <a:latin typeface="Open Sans 1 Bold"/>
                <a:ea typeface="Open Sans 1 Bold"/>
                <a:cs typeface="Open Sans 1 Bold"/>
                <a:sym typeface="Open Sans 1 Bold"/>
              </a:rPr>
              <a:t>Arqu</a:t>
            </a:r>
            <a:r>
              <a:rPr lang="en-US" b="true" sz="3499">
                <a:solidFill>
                  <a:srgbClr val="000000"/>
                </a:solidFill>
                <a:latin typeface="Open Sans 1 Bold"/>
                <a:ea typeface="Open Sans 1 Bold"/>
                <a:cs typeface="Open Sans 1 Bold"/>
                <a:sym typeface="Open Sans 1 Bold"/>
              </a:rPr>
              <a:t>itectura del sistema</a:t>
            </a:r>
          </a:p>
        </p:txBody>
      </p:sp>
      <p:sp>
        <p:nvSpPr>
          <p:cNvPr name="TextBox 13" id="13"/>
          <p:cNvSpPr txBox="true"/>
          <p:nvPr/>
        </p:nvSpPr>
        <p:spPr>
          <a:xfrm rot="0">
            <a:off x="11485247" y="6605086"/>
            <a:ext cx="4696671" cy="290801"/>
          </a:xfrm>
          <a:prstGeom prst="rect">
            <a:avLst/>
          </a:prstGeom>
        </p:spPr>
        <p:txBody>
          <a:bodyPr anchor="t" rtlCol="false" tIns="0" lIns="0" bIns="0" rIns="0">
            <a:spAutoFit/>
          </a:bodyPr>
          <a:lstStyle/>
          <a:p>
            <a:pPr algn="just">
              <a:lnSpc>
                <a:spcPts val="2346"/>
              </a:lnSpc>
            </a:pPr>
            <a:r>
              <a:rPr lang="en-US" sz="1676">
                <a:solidFill>
                  <a:srgbClr val="000000"/>
                </a:solidFill>
                <a:latin typeface="Open Sans 1"/>
                <a:ea typeface="Open Sans 1"/>
                <a:cs typeface="Open Sans 1"/>
                <a:sym typeface="Open Sans 1"/>
              </a:rPr>
              <a:t>Desp</a:t>
            </a:r>
            <a:r>
              <a:rPr lang="en-US" sz="1676">
                <a:solidFill>
                  <a:srgbClr val="000000"/>
                </a:solidFill>
                <a:latin typeface="Open Sans 1"/>
                <a:ea typeface="Open Sans 1"/>
                <a:cs typeface="Open Sans 1"/>
                <a:sym typeface="Open Sans 1"/>
              </a:rPr>
              <a:t>liegue de la solución y servicios externos.</a:t>
            </a:r>
          </a:p>
        </p:txBody>
      </p:sp>
      <p:sp>
        <p:nvSpPr>
          <p:cNvPr name="TextBox 14" id="14"/>
          <p:cNvSpPr txBox="true"/>
          <p:nvPr/>
        </p:nvSpPr>
        <p:spPr>
          <a:xfrm rot="0">
            <a:off x="10555881" y="5861285"/>
            <a:ext cx="5626037" cy="389575"/>
          </a:xfrm>
          <a:prstGeom prst="rect">
            <a:avLst/>
          </a:prstGeom>
        </p:spPr>
        <p:txBody>
          <a:bodyPr anchor="t" rtlCol="false" tIns="0" lIns="0" bIns="0" rIns="0">
            <a:spAutoFit/>
          </a:bodyPr>
          <a:lstStyle/>
          <a:p>
            <a:pPr algn="ctr">
              <a:lnSpc>
                <a:spcPts val="3202"/>
              </a:lnSpc>
            </a:pPr>
            <a:r>
              <a:rPr lang="en-US" sz="2287" b="true">
                <a:solidFill>
                  <a:srgbClr val="000000"/>
                </a:solidFill>
                <a:latin typeface="Open Sans 1 Bold"/>
                <a:ea typeface="Open Sans 1 Bold"/>
                <a:cs typeface="Open Sans 1 Bold"/>
                <a:sym typeface="Open Sans 1 Bold"/>
              </a:rPr>
              <a:t>Vista Física</a:t>
            </a:r>
          </a:p>
        </p:txBody>
      </p:sp>
      <p:sp>
        <p:nvSpPr>
          <p:cNvPr name="TextBox 15" id="15"/>
          <p:cNvSpPr txBox="true"/>
          <p:nvPr/>
        </p:nvSpPr>
        <p:spPr>
          <a:xfrm rot="0">
            <a:off x="6027262" y="8946212"/>
            <a:ext cx="6757236" cy="586076"/>
          </a:xfrm>
          <a:prstGeom prst="rect">
            <a:avLst/>
          </a:prstGeom>
        </p:spPr>
        <p:txBody>
          <a:bodyPr anchor="t" rtlCol="false" tIns="0" lIns="0" bIns="0" rIns="0">
            <a:spAutoFit/>
          </a:bodyPr>
          <a:lstStyle/>
          <a:p>
            <a:pPr algn="just">
              <a:lnSpc>
                <a:spcPts val="2346"/>
              </a:lnSpc>
            </a:pPr>
            <a:r>
              <a:rPr lang="en-US" sz="1676">
                <a:solidFill>
                  <a:srgbClr val="000000"/>
                </a:solidFill>
                <a:latin typeface="Open Sans 1"/>
                <a:ea typeface="Open Sans 1"/>
                <a:cs typeface="Open Sans 1"/>
                <a:sym typeface="Open Sans 1"/>
              </a:rPr>
              <a:t>La solución</a:t>
            </a:r>
            <a:r>
              <a:rPr lang="en-US" sz="1676">
                <a:solidFill>
                  <a:srgbClr val="000000"/>
                </a:solidFill>
                <a:latin typeface="Open Sans 1"/>
                <a:ea typeface="Open Sans 1"/>
                <a:cs typeface="Open Sans 1"/>
                <a:sym typeface="Open Sans 1"/>
              </a:rPr>
              <a:t> fue documentada mediante el modelo arquitectónico 4+1, permitiendo analizar el sistema desde distintas perspectivas.</a:t>
            </a:r>
          </a:p>
        </p:txBody>
      </p:sp>
      <p:sp>
        <p:nvSpPr>
          <p:cNvPr name="TextBox 16" id="16"/>
          <p:cNvSpPr txBox="true"/>
          <p:nvPr/>
        </p:nvSpPr>
        <p:spPr>
          <a:xfrm rot="0">
            <a:off x="14986627" y="9781962"/>
            <a:ext cx="3172235" cy="290801"/>
          </a:xfrm>
          <a:prstGeom prst="rect">
            <a:avLst/>
          </a:prstGeom>
        </p:spPr>
        <p:txBody>
          <a:bodyPr anchor="t" rtlCol="false" tIns="0" lIns="0" bIns="0" rIns="0">
            <a:spAutoFit/>
          </a:bodyPr>
          <a:lstStyle/>
          <a:p>
            <a:pPr algn="just">
              <a:lnSpc>
                <a:spcPts val="2346"/>
              </a:lnSpc>
            </a:pPr>
            <a:r>
              <a:rPr lang="en-US" sz="1676">
                <a:solidFill>
                  <a:srgbClr val="000000"/>
                </a:solidFill>
                <a:latin typeface="Open Sans 1"/>
                <a:ea typeface="Open Sans 1"/>
                <a:cs typeface="Open Sans 1"/>
                <a:sym typeface="Open Sans 1"/>
              </a:rPr>
              <a:t>todo diagrama esta en github</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75250" y="672959"/>
            <a:ext cx="3099366" cy="611245"/>
          </a:xfrm>
          <a:custGeom>
            <a:avLst/>
            <a:gdLst/>
            <a:ahLst/>
            <a:cxnLst/>
            <a:rect r="r" b="b" t="t" l="l"/>
            <a:pathLst>
              <a:path h="611245" w="3099366">
                <a:moveTo>
                  <a:pt x="0" y="0"/>
                </a:moveTo>
                <a:lnTo>
                  <a:pt x="3099366" y="0"/>
                </a:lnTo>
                <a:lnTo>
                  <a:pt x="3099366" y="611245"/>
                </a:lnTo>
                <a:lnTo>
                  <a:pt x="0" y="611245"/>
                </a:lnTo>
                <a:lnTo>
                  <a:pt x="0" y="0"/>
                </a:lnTo>
                <a:close/>
              </a:path>
            </a:pathLst>
          </a:custGeom>
          <a:blipFill>
            <a:blip r:embed="rId2"/>
            <a:stretch>
              <a:fillRect l="0" t="-37402" r="0" b="-10686"/>
            </a:stretch>
          </a:blipFill>
        </p:spPr>
      </p:sp>
      <p:sp>
        <p:nvSpPr>
          <p:cNvPr name="TextBox 3" id="3"/>
          <p:cNvSpPr txBox="true"/>
          <p:nvPr/>
        </p:nvSpPr>
        <p:spPr>
          <a:xfrm rot="0">
            <a:off x="5184459" y="952500"/>
            <a:ext cx="7038231"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Open Sans 1 Bold"/>
                <a:ea typeface="Open Sans 1 Bold"/>
                <a:cs typeface="Open Sans 1 Bold"/>
                <a:sym typeface="Open Sans 1 Bold"/>
              </a:rPr>
              <a:t>Estado actual del </a:t>
            </a:r>
            <a:r>
              <a:rPr lang="en-US" b="true" sz="3999">
                <a:solidFill>
                  <a:srgbClr val="000000"/>
                </a:solidFill>
                <a:latin typeface="Open Sans 1 Bold"/>
                <a:ea typeface="Open Sans 1 Bold"/>
                <a:cs typeface="Open Sans 1 Bold"/>
                <a:sym typeface="Open Sans 1 Bold"/>
              </a:rPr>
              <a:t>desarrollo</a:t>
            </a:r>
          </a:p>
        </p:txBody>
      </p:sp>
      <p:sp>
        <p:nvSpPr>
          <p:cNvPr name="TextBox 4" id="4"/>
          <p:cNvSpPr txBox="true"/>
          <p:nvPr/>
        </p:nvSpPr>
        <p:spPr>
          <a:xfrm rot="0">
            <a:off x="789339" y="3384174"/>
            <a:ext cx="7197662" cy="4789805"/>
          </a:xfrm>
          <a:prstGeom prst="rect">
            <a:avLst/>
          </a:prstGeom>
        </p:spPr>
        <p:txBody>
          <a:bodyPr anchor="t" rtlCol="false" tIns="0" lIns="0" bIns="0" rIns="0">
            <a:spAutoFit/>
          </a:bodyPr>
          <a:lstStyle/>
          <a:p>
            <a:pPr algn="just">
              <a:lnSpc>
                <a:spcPts val="3219"/>
              </a:lnSpc>
            </a:pPr>
            <a:r>
              <a:rPr lang="en-US" sz="2299" b="true">
                <a:solidFill>
                  <a:srgbClr val="000000"/>
                </a:solidFill>
                <a:latin typeface="Open Sans 1 Bold"/>
                <a:ea typeface="Open Sans 1 Bold"/>
                <a:cs typeface="Open Sans 1 Bold"/>
                <a:sym typeface="Open Sans 1 Bold"/>
              </a:rPr>
              <a:t>Funcionalidades implementadas</a:t>
            </a:r>
          </a:p>
          <a:p>
            <a:pPr algn="just">
              <a:lnSpc>
                <a:spcPts val="3219"/>
              </a:lnSpc>
            </a:pP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Registro e inicio de sesión</a:t>
            </a: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Persistencia de información en base de datos</a:t>
            </a: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Gestión de preguntas mediante Django Admin</a:t>
            </a: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Módulo educativo interactivo</a:t>
            </a: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Asistente Sonia integrado con API Gemini</a:t>
            </a: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Red CNN entrenada e integrada</a:t>
            </a: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Carga y análisis de imágenes</a:t>
            </a: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Presentación de resultados de la CNN</a:t>
            </a: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Plataforma desplegada en web</a:t>
            </a:r>
          </a:p>
          <a:p>
            <a:pPr algn="just">
              <a:lnSpc>
                <a:spcPts val="3219"/>
              </a:lnSpc>
            </a:pPr>
          </a:p>
        </p:txBody>
      </p:sp>
      <p:sp>
        <p:nvSpPr>
          <p:cNvPr name="TextBox 5" id="5"/>
          <p:cNvSpPr txBox="true"/>
          <p:nvPr/>
        </p:nvSpPr>
        <p:spPr>
          <a:xfrm rot="0">
            <a:off x="11386126" y="3384174"/>
            <a:ext cx="5873174" cy="2389505"/>
          </a:xfrm>
          <a:prstGeom prst="rect">
            <a:avLst/>
          </a:prstGeom>
        </p:spPr>
        <p:txBody>
          <a:bodyPr anchor="t" rtlCol="false" tIns="0" lIns="0" bIns="0" rIns="0">
            <a:spAutoFit/>
          </a:bodyPr>
          <a:lstStyle/>
          <a:p>
            <a:pPr algn="just">
              <a:lnSpc>
                <a:spcPts val="3219"/>
              </a:lnSpc>
            </a:pPr>
            <a:r>
              <a:rPr lang="en-US" sz="2299" b="true">
                <a:solidFill>
                  <a:srgbClr val="000000"/>
                </a:solidFill>
                <a:latin typeface="Open Sans 1 Bold"/>
                <a:ea typeface="Open Sans 1 Bold"/>
                <a:cs typeface="Open Sans 1 Bold"/>
                <a:sym typeface="Open Sans 1 Bold"/>
              </a:rPr>
              <a:t>En d</a:t>
            </a:r>
            <a:r>
              <a:rPr lang="en-US" sz="2299" b="true">
                <a:solidFill>
                  <a:srgbClr val="000000"/>
                </a:solidFill>
                <a:latin typeface="Open Sans 1 Bold"/>
                <a:ea typeface="Open Sans 1 Bold"/>
                <a:cs typeface="Open Sans 1 Bold"/>
                <a:sym typeface="Open Sans 1 Bold"/>
              </a:rPr>
              <a:t>esarrollo / m</a:t>
            </a:r>
            <a:r>
              <a:rPr lang="en-US" b="true" sz="2299">
                <a:solidFill>
                  <a:srgbClr val="000000"/>
                </a:solidFill>
                <a:latin typeface="Open Sans 1 Bold"/>
                <a:ea typeface="Open Sans 1 Bold"/>
                <a:cs typeface="Open Sans 1 Bold"/>
                <a:sym typeface="Open Sans 1 Bold"/>
              </a:rPr>
              <a:t>ejora</a:t>
            </a:r>
          </a:p>
          <a:p>
            <a:pPr algn="l">
              <a:lnSpc>
                <a:spcPts val="3219"/>
              </a:lnSpc>
            </a:pP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Seguimiento del progreso del usuario</a:t>
            </a: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Pruebas funcionales generales</a:t>
            </a:r>
          </a:p>
          <a:p>
            <a:pPr algn="l" marL="496569" indent="-248284" lvl="1">
              <a:lnSpc>
                <a:spcPts val="3219"/>
              </a:lnSpc>
              <a:buFont typeface="Arial"/>
              <a:buChar char="•"/>
            </a:pPr>
            <a:r>
              <a:rPr lang="en-US" sz="2299">
                <a:solidFill>
                  <a:srgbClr val="000000"/>
                </a:solidFill>
                <a:latin typeface="Open Sans 1"/>
                <a:ea typeface="Open Sans 1"/>
                <a:cs typeface="Open Sans 1"/>
                <a:sym typeface="Open Sans 1"/>
              </a:rPr>
              <a:t>Corrección y optimización de errores</a:t>
            </a:r>
          </a:p>
          <a:p>
            <a:pPr algn="just">
              <a:lnSpc>
                <a:spcPts val="321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89105" y="2690335"/>
            <a:ext cx="7876236" cy="4906330"/>
          </a:xfrm>
          <a:prstGeom prst="rect">
            <a:avLst/>
          </a:prstGeom>
        </p:spPr>
      </p:pic>
      <p:pic>
        <p:nvPicPr>
          <p:cNvPr name="Picture 3" id="3">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0" r="0" b="0"/>
          <a:stretch>
            <a:fillRect/>
          </a:stretch>
        </p:blipFill>
        <p:spPr>
          <a:xfrm flipH="false" flipV="false" rot="0">
            <a:off x="9144000" y="5380670"/>
            <a:ext cx="8097615" cy="4906330"/>
          </a:xfrm>
          <a:prstGeom prst="rect">
            <a:avLst/>
          </a:prstGeom>
        </p:spPr>
      </p:pic>
      <p:sp>
        <p:nvSpPr>
          <p:cNvPr name="TextBox 4" id="4"/>
          <p:cNvSpPr txBox="true"/>
          <p:nvPr/>
        </p:nvSpPr>
        <p:spPr>
          <a:xfrm rot="0">
            <a:off x="6386709" y="240393"/>
            <a:ext cx="5734794"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Open Sans 1 Bold"/>
                <a:ea typeface="Open Sans 1 Bold"/>
                <a:cs typeface="Open Sans 1 Bold"/>
                <a:sym typeface="Open Sans 1 Bold"/>
              </a:rPr>
              <a:t>Evidencias funcionales</a:t>
            </a:r>
          </a:p>
        </p:txBody>
      </p:sp>
      <p:sp>
        <p:nvSpPr>
          <p:cNvPr name="TextBox 5" id="5"/>
          <p:cNvSpPr txBox="true"/>
          <p:nvPr/>
        </p:nvSpPr>
        <p:spPr>
          <a:xfrm rot="0">
            <a:off x="1435569" y="1709459"/>
            <a:ext cx="4117549" cy="422275"/>
          </a:xfrm>
          <a:prstGeom prst="rect">
            <a:avLst/>
          </a:prstGeom>
        </p:spPr>
        <p:txBody>
          <a:bodyPr anchor="t" rtlCol="false" tIns="0" lIns="0" bIns="0" rIns="0">
            <a:spAutoFit/>
          </a:bodyPr>
          <a:lstStyle/>
          <a:p>
            <a:pPr algn="l">
              <a:lnSpc>
                <a:spcPts val="3499"/>
              </a:lnSpc>
            </a:pPr>
            <a:r>
              <a:rPr lang="en-US" sz="2499">
                <a:solidFill>
                  <a:srgbClr val="000000"/>
                </a:solidFill>
                <a:latin typeface="Open Sans 1"/>
                <a:ea typeface="Open Sans 1"/>
                <a:cs typeface="Open Sans 1"/>
                <a:sym typeface="Open Sans 1"/>
              </a:rPr>
              <a:t>Como se guarda el usuario </a:t>
            </a:r>
          </a:p>
        </p:txBody>
      </p:sp>
      <p:sp>
        <p:nvSpPr>
          <p:cNvPr name="TextBox 6" id="6"/>
          <p:cNvSpPr txBox="true"/>
          <p:nvPr/>
        </p:nvSpPr>
        <p:spPr>
          <a:xfrm rot="0">
            <a:off x="10899833" y="4179505"/>
            <a:ext cx="5092777" cy="422275"/>
          </a:xfrm>
          <a:prstGeom prst="rect">
            <a:avLst/>
          </a:prstGeom>
        </p:spPr>
        <p:txBody>
          <a:bodyPr anchor="t" rtlCol="false" tIns="0" lIns="0" bIns="0" rIns="0">
            <a:spAutoFit/>
          </a:bodyPr>
          <a:lstStyle/>
          <a:p>
            <a:pPr algn="just">
              <a:lnSpc>
                <a:spcPts val="3499"/>
              </a:lnSpc>
            </a:pPr>
            <a:r>
              <a:rPr lang="en-US" sz="2499">
                <a:solidFill>
                  <a:srgbClr val="000000"/>
                </a:solidFill>
                <a:latin typeface="Open Sans 1"/>
                <a:ea typeface="Open Sans 1"/>
                <a:cs typeface="Open Sans 1"/>
                <a:sym typeface="Open Sans 1"/>
              </a:rPr>
              <a:t>Como se guardan las preguntas </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video>
              <p:cMediaNode vol="100000">
                <p:cTn fill="hold" display="false">
                  <p:stCondLst>
                    <p:cond delay="indefinite"/>
                  </p:stCondLst>
                </p:cTn>
                <p:tgtEl>
                  <p:spTgt spid="3"/>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34430" y="2854394"/>
            <a:ext cx="4117549" cy="6833559"/>
          </a:xfrm>
          <a:custGeom>
            <a:avLst/>
            <a:gdLst/>
            <a:ahLst/>
            <a:cxnLst/>
            <a:rect r="r" b="b" t="t" l="l"/>
            <a:pathLst>
              <a:path h="6833559" w="4117549">
                <a:moveTo>
                  <a:pt x="0" y="0"/>
                </a:moveTo>
                <a:lnTo>
                  <a:pt x="4117548" y="0"/>
                </a:lnTo>
                <a:lnTo>
                  <a:pt x="4117548" y="6833559"/>
                </a:lnTo>
                <a:lnTo>
                  <a:pt x="0" y="6833559"/>
                </a:lnTo>
                <a:lnTo>
                  <a:pt x="0" y="0"/>
                </a:lnTo>
                <a:close/>
              </a:path>
            </a:pathLst>
          </a:custGeom>
          <a:blipFill>
            <a:blip r:embed="rId2"/>
            <a:stretch>
              <a:fillRect l="0" t="-2478" r="0" b="-2478"/>
            </a:stretch>
          </a:blipFill>
        </p:spPr>
      </p:sp>
      <p:sp>
        <p:nvSpPr>
          <p:cNvPr name="Freeform 3" id="3"/>
          <p:cNvSpPr/>
          <p:nvPr/>
        </p:nvSpPr>
        <p:spPr>
          <a:xfrm flipH="false" flipV="false" rot="0">
            <a:off x="9717749" y="2685772"/>
            <a:ext cx="7579570" cy="7096558"/>
          </a:xfrm>
          <a:custGeom>
            <a:avLst/>
            <a:gdLst/>
            <a:ahLst/>
            <a:cxnLst/>
            <a:rect r="r" b="b" t="t" l="l"/>
            <a:pathLst>
              <a:path h="7096558" w="7579570">
                <a:moveTo>
                  <a:pt x="0" y="0"/>
                </a:moveTo>
                <a:lnTo>
                  <a:pt x="7579569" y="0"/>
                </a:lnTo>
                <a:lnTo>
                  <a:pt x="7579569" y="7096558"/>
                </a:lnTo>
                <a:lnTo>
                  <a:pt x="0" y="7096558"/>
                </a:lnTo>
                <a:lnTo>
                  <a:pt x="0" y="0"/>
                </a:lnTo>
                <a:close/>
              </a:path>
            </a:pathLst>
          </a:custGeom>
          <a:blipFill>
            <a:blip r:embed="rId3"/>
            <a:stretch>
              <a:fillRect l="0" t="0" r="0" b="0"/>
            </a:stretch>
          </a:blipFill>
        </p:spPr>
      </p:sp>
      <p:sp>
        <p:nvSpPr>
          <p:cNvPr name="TextBox 4" id="4"/>
          <p:cNvSpPr txBox="true"/>
          <p:nvPr/>
        </p:nvSpPr>
        <p:spPr>
          <a:xfrm rot="0">
            <a:off x="6386709" y="240393"/>
            <a:ext cx="5734794"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Open Sans 1 Bold"/>
                <a:ea typeface="Open Sans 1 Bold"/>
                <a:cs typeface="Open Sans 1 Bold"/>
                <a:sym typeface="Open Sans 1 Bold"/>
              </a:rPr>
              <a:t>Evidencias funcionales</a:t>
            </a:r>
          </a:p>
        </p:txBody>
      </p:sp>
      <p:sp>
        <p:nvSpPr>
          <p:cNvPr name="TextBox 5" id="5"/>
          <p:cNvSpPr txBox="true"/>
          <p:nvPr/>
        </p:nvSpPr>
        <p:spPr>
          <a:xfrm rot="0">
            <a:off x="1923184" y="1726618"/>
            <a:ext cx="4117549" cy="422275"/>
          </a:xfrm>
          <a:prstGeom prst="rect">
            <a:avLst/>
          </a:prstGeom>
        </p:spPr>
        <p:txBody>
          <a:bodyPr anchor="t" rtlCol="false" tIns="0" lIns="0" bIns="0" rIns="0">
            <a:spAutoFit/>
          </a:bodyPr>
          <a:lstStyle/>
          <a:p>
            <a:pPr algn="l">
              <a:lnSpc>
                <a:spcPts val="3499"/>
              </a:lnSpc>
            </a:pPr>
            <a:r>
              <a:rPr lang="en-US" sz="2499">
                <a:solidFill>
                  <a:srgbClr val="000000"/>
                </a:solidFill>
                <a:latin typeface="Open Sans 1"/>
                <a:ea typeface="Open Sans 1"/>
                <a:cs typeface="Open Sans 1"/>
                <a:sym typeface="Open Sans 1"/>
              </a:rPr>
              <a:t>Evidencia chatbot - gemini</a:t>
            </a:r>
          </a:p>
        </p:txBody>
      </p:sp>
      <p:sp>
        <p:nvSpPr>
          <p:cNvPr name="TextBox 6" id="6"/>
          <p:cNvSpPr txBox="true"/>
          <p:nvPr/>
        </p:nvSpPr>
        <p:spPr>
          <a:xfrm rot="0">
            <a:off x="11261611" y="1726618"/>
            <a:ext cx="5092777" cy="422275"/>
          </a:xfrm>
          <a:prstGeom prst="rect">
            <a:avLst/>
          </a:prstGeom>
        </p:spPr>
        <p:txBody>
          <a:bodyPr anchor="t" rtlCol="false" tIns="0" lIns="0" bIns="0" rIns="0">
            <a:spAutoFit/>
          </a:bodyPr>
          <a:lstStyle/>
          <a:p>
            <a:pPr algn="just">
              <a:lnSpc>
                <a:spcPts val="3499"/>
              </a:lnSpc>
            </a:pPr>
            <a:r>
              <a:rPr lang="en-US" sz="2499">
                <a:solidFill>
                  <a:srgbClr val="000000"/>
                </a:solidFill>
                <a:latin typeface="Open Sans 1"/>
                <a:ea typeface="Open Sans 1"/>
                <a:cs typeface="Open Sans 1"/>
                <a:sym typeface="Open Sans 1"/>
              </a:rPr>
              <a:t>Evidencia Red CNN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75250" y="672959"/>
            <a:ext cx="3099366" cy="611245"/>
          </a:xfrm>
          <a:custGeom>
            <a:avLst/>
            <a:gdLst/>
            <a:ahLst/>
            <a:cxnLst/>
            <a:rect r="r" b="b" t="t" l="l"/>
            <a:pathLst>
              <a:path h="611245" w="3099366">
                <a:moveTo>
                  <a:pt x="0" y="0"/>
                </a:moveTo>
                <a:lnTo>
                  <a:pt x="3099366" y="0"/>
                </a:lnTo>
                <a:lnTo>
                  <a:pt x="3099366" y="611245"/>
                </a:lnTo>
                <a:lnTo>
                  <a:pt x="0" y="611245"/>
                </a:lnTo>
                <a:lnTo>
                  <a:pt x="0" y="0"/>
                </a:lnTo>
                <a:close/>
              </a:path>
            </a:pathLst>
          </a:custGeom>
          <a:blipFill>
            <a:blip r:embed="rId2"/>
            <a:stretch>
              <a:fillRect l="0" t="-37402" r="0" b="-10686"/>
            </a:stretch>
          </a:blipFill>
        </p:spPr>
      </p:sp>
      <p:sp>
        <p:nvSpPr>
          <p:cNvPr name="TextBox 3" id="3"/>
          <p:cNvSpPr txBox="true"/>
          <p:nvPr/>
        </p:nvSpPr>
        <p:spPr>
          <a:xfrm rot="0">
            <a:off x="5640319" y="952500"/>
            <a:ext cx="6126510"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Open Sans 1 Bold"/>
                <a:ea typeface="Open Sans 1 Bold"/>
                <a:cs typeface="Open Sans 1 Bold"/>
                <a:sym typeface="Open Sans 1 Bold"/>
              </a:rPr>
              <a:t>Met</a:t>
            </a:r>
            <a:r>
              <a:rPr lang="en-US" b="true" sz="3999">
                <a:solidFill>
                  <a:srgbClr val="000000"/>
                </a:solidFill>
                <a:latin typeface="Open Sans 1 Bold"/>
                <a:ea typeface="Open Sans 1 Bold"/>
                <a:cs typeface="Open Sans 1 Bold"/>
                <a:sym typeface="Open Sans 1 Bold"/>
              </a:rPr>
              <a:t>odología y Roadmap</a:t>
            </a:r>
          </a:p>
        </p:txBody>
      </p:sp>
      <p:sp>
        <p:nvSpPr>
          <p:cNvPr name="TextBox 4" id="4"/>
          <p:cNvSpPr txBox="true"/>
          <p:nvPr/>
        </p:nvSpPr>
        <p:spPr>
          <a:xfrm rot="0">
            <a:off x="1058260" y="3191353"/>
            <a:ext cx="6190974" cy="2487264"/>
          </a:xfrm>
          <a:prstGeom prst="rect">
            <a:avLst/>
          </a:prstGeom>
        </p:spPr>
        <p:txBody>
          <a:bodyPr anchor="t" rtlCol="false" tIns="0" lIns="0" bIns="0" rIns="0">
            <a:spAutoFit/>
          </a:bodyPr>
          <a:lstStyle/>
          <a:p>
            <a:pPr algn="just">
              <a:lnSpc>
                <a:spcPts val="2486"/>
              </a:lnSpc>
            </a:pPr>
            <a:r>
              <a:rPr lang="en-US" sz="1776">
                <a:solidFill>
                  <a:srgbClr val="000000"/>
                </a:solidFill>
                <a:latin typeface="Open Sans 1"/>
                <a:ea typeface="Open Sans 1"/>
                <a:cs typeface="Open Sans 1"/>
                <a:sym typeface="Open Sans 1"/>
              </a:rPr>
              <a:t>Para el d</a:t>
            </a:r>
            <a:r>
              <a:rPr lang="en-US" sz="1776">
                <a:solidFill>
                  <a:srgbClr val="000000"/>
                </a:solidFill>
                <a:latin typeface="Open Sans 1"/>
                <a:ea typeface="Open Sans 1"/>
                <a:cs typeface="Open Sans 1"/>
                <a:sym typeface="Open Sans 1"/>
              </a:rPr>
              <a:t>esarrollo de Red Mamaria Preventiva se utilizó una metodología ágil basada en Scrum, adaptada al contexto académico del proyecto. Esta metodología permitió organizar el desarrollo de forma incremental, dividir las funcionalidades en tareas más pequeñas, distribuir responsabilidades entre los integrantes y revisar constantemente los avances obtenidos.</a:t>
            </a:r>
          </a:p>
          <a:p>
            <a:pPr algn="just">
              <a:lnSpc>
                <a:spcPts val="2486"/>
              </a:lnSpc>
            </a:pPr>
          </a:p>
        </p:txBody>
      </p:sp>
      <p:sp>
        <p:nvSpPr>
          <p:cNvPr name="TextBox 5" id="5"/>
          <p:cNvSpPr txBox="true"/>
          <p:nvPr/>
        </p:nvSpPr>
        <p:spPr>
          <a:xfrm rot="0">
            <a:off x="1749695" y="2440959"/>
            <a:ext cx="4808103" cy="396240"/>
          </a:xfrm>
          <a:prstGeom prst="rect">
            <a:avLst/>
          </a:prstGeom>
        </p:spPr>
        <p:txBody>
          <a:bodyPr anchor="t" rtlCol="false" tIns="0" lIns="0" bIns="0" rIns="0">
            <a:spAutoFit/>
          </a:bodyPr>
          <a:lstStyle/>
          <a:p>
            <a:pPr algn="ctr">
              <a:lnSpc>
                <a:spcPts val="3359"/>
              </a:lnSpc>
            </a:pPr>
            <a:r>
              <a:rPr lang="en-US" sz="2400" b="true">
                <a:solidFill>
                  <a:srgbClr val="000000"/>
                </a:solidFill>
                <a:latin typeface="Open Sans 1 Bold"/>
                <a:ea typeface="Open Sans 1 Bold"/>
                <a:cs typeface="Open Sans 1 Bold"/>
                <a:sym typeface="Open Sans 1 Bold"/>
              </a:rPr>
              <a:t>SCRUM</a:t>
            </a:r>
          </a:p>
        </p:txBody>
      </p:sp>
      <p:grpSp>
        <p:nvGrpSpPr>
          <p:cNvPr name="Group 6" id="6"/>
          <p:cNvGrpSpPr/>
          <p:nvPr/>
        </p:nvGrpSpPr>
        <p:grpSpPr>
          <a:xfrm rot="0">
            <a:off x="8901881" y="4076021"/>
            <a:ext cx="9176683" cy="746503"/>
            <a:chOff x="0" y="0"/>
            <a:chExt cx="12235578" cy="995337"/>
          </a:xfrm>
        </p:grpSpPr>
        <p:sp>
          <p:nvSpPr>
            <p:cNvPr name="Freeform 7" id="7"/>
            <p:cNvSpPr/>
            <p:nvPr/>
          </p:nvSpPr>
          <p:spPr>
            <a:xfrm flipH="false" flipV="false" rot="0">
              <a:off x="0" y="0"/>
              <a:ext cx="12235578" cy="995337"/>
            </a:xfrm>
            <a:custGeom>
              <a:avLst/>
              <a:gdLst/>
              <a:ahLst/>
              <a:cxnLst/>
              <a:rect r="r" b="b" t="t" l="l"/>
              <a:pathLst>
                <a:path h="995337" w="12235578">
                  <a:moveTo>
                    <a:pt x="0" y="0"/>
                  </a:moveTo>
                  <a:lnTo>
                    <a:pt x="12235578" y="0"/>
                  </a:lnTo>
                  <a:lnTo>
                    <a:pt x="12235578" y="995337"/>
                  </a:lnTo>
                  <a:lnTo>
                    <a:pt x="0" y="995337"/>
                  </a:lnTo>
                  <a:close/>
                </a:path>
              </a:pathLst>
            </a:custGeom>
            <a:blipFill>
              <a:blip r:embed="rId3">
                <a:alphaModFix amt="0"/>
              </a:blip>
              <a:stretch>
                <a:fillRect l="0" t="-396289" r="-83344" b="-382032"/>
              </a:stretch>
            </a:blipFill>
          </p:spPr>
        </p:sp>
        <p:sp>
          <p:nvSpPr>
            <p:cNvPr name="TextBox 8" id="8"/>
            <p:cNvSpPr txBox="true"/>
            <p:nvPr/>
          </p:nvSpPr>
          <p:spPr>
            <a:xfrm>
              <a:off x="0" y="0"/>
              <a:ext cx="12235578" cy="995337"/>
            </a:xfrm>
            <a:prstGeom prst="rect">
              <a:avLst/>
            </a:prstGeom>
          </p:spPr>
          <p:txBody>
            <a:bodyPr anchor="ctr" rtlCol="false" tIns="0" lIns="0" bIns="0" rIns="0"/>
            <a:lstStyle/>
            <a:p>
              <a:pPr algn="l">
                <a:lnSpc>
                  <a:spcPts val="2519"/>
                </a:lnSpc>
              </a:pPr>
              <a:r>
                <a:rPr lang="en-US" sz="2099">
                  <a:solidFill>
                    <a:srgbClr val="111111"/>
                  </a:solidFill>
                  <a:latin typeface="Open Sans 2"/>
                  <a:ea typeface="Open Sans 2"/>
                  <a:cs typeface="Open Sans 2"/>
                  <a:sym typeface="Open Sans 2"/>
                </a:rPr>
                <a:t>El roadmap representa la evolucion del proyecyo desde su planificacion inicial hasta la integracion, validacion y cierre de la solucion</a:t>
              </a:r>
            </a:p>
          </p:txBody>
        </p:sp>
      </p:grpSp>
      <p:graphicFrame>
        <p:nvGraphicFramePr>
          <p:cNvPr name="Object 9" id="9"/>
          <p:cNvGraphicFramePr/>
          <p:nvPr/>
        </p:nvGraphicFramePr>
        <p:xfrm>
          <a:off x="8505267" y="4959084"/>
          <a:ext cx="3771900" cy="3771900"/>
        </p:xfrm>
        <a:graphic>
          <a:graphicData uri="http://schemas.openxmlformats.org/presentationml/2006/ole">
            <p:oleObj imgW="4521200" imgH="4521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DAHX0dwvzDM</dc:identifier>
  <dcterms:modified xsi:type="dcterms:W3CDTF">2011-08-01T06:04:30Z</dcterms:modified>
  <cp:revision>1</cp:revision>
  <dc:title>EVIDENCIA_PROYECTO_FASE2</dc:title>
</cp:coreProperties>
</file>